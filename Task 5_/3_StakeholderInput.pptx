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2"/>
  </p:notesMasterIdLst>
  <p:sldIdLst>
    <p:sldId id="256" r:id="rId5"/>
    <p:sldId id="257" r:id="rId6"/>
    <p:sldId id="258" r:id="rId7"/>
    <p:sldId id="259" r:id="rId8"/>
    <p:sldId id="260" r:id="rId9"/>
    <p:sldId id="261" r:id="rId10"/>
    <p:sldId id="262"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64E3DB-0A1B-44C7-8378-E6C258C4B956}">
  <a:tblStyle styleId="{4364E3DB-0A1B-44C7-8378-E6C258C4B95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8580440b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8580440b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8580440bb3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8580440bb3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1f150a20d1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1f150a20d1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f150a20d1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1f150a20d1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f150a20d1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f150a20d1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1f150a20d1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1f150a20d1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1f150a20d1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1f150a20d1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QSort Activity: Gauging perspectives on the effectiveness and feasible of different policies/strategies for supporting EV evacuation during extreme events</a:t>
            </a:r>
            <a:endParaRPr/>
          </a:p>
        </p:txBody>
      </p:sp>
      <p:sp>
        <p:nvSpPr>
          <p:cNvPr id="55" name="Google Shape;55;p13"/>
          <p:cNvSpPr txBox="1">
            <a:spLocks noGrp="1"/>
          </p:cNvSpPr>
          <p:nvPr>
            <p:ph type="body" idx="1"/>
          </p:nvPr>
        </p:nvSpPr>
        <p:spPr>
          <a:xfrm>
            <a:off x="-64100" y="2050825"/>
            <a:ext cx="8520600" cy="285780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 dirty="0"/>
              <a:t>Please introduce your name in the green slide</a:t>
            </a:r>
            <a:endParaRPr dirty="0"/>
          </a:p>
          <a:p>
            <a:pPr marL="457200" lvl="0" indent="-342900" algn="l" rtl="0">
              <a:spcBef>
                <a:spcPts val="0"/>
              </a:spcBef>
              <a:spcAft>
                <a:spcPts val="0"/>
              </a:spcAft>
              <a:buSzPts val="1800"/>
              <a:buChar char="●"/>
            </a:pPr>
            <a:endParaRPr lang="en" dirty="0"/>
          </a:p>
          <a:p>
            <a:pPr marL="457200" lvl="0" indent="-342900" algn="l" rtl="0">
              <a:spcBef>
                <a:spcPts val="0"/>
              </a:spcBef>
              <a:spcAft>
                <a:spcPts val="0"/>
              </a:spcAft>
              <a:buSzPts val="1800"/>
              <a:buChar char="●"/>
            </a:pPr>
            <a:r>
              <a:rPr lang="en" dirty="0"/>
              <a:t>The subsequent slides contain the following:</a:t>
            </a:r>
            <a:endParaRPr dirty="0"/>
          </a:p>
          <a:p>
            <a:pPr marL="914400" lvl="1" indent="-317500" algn="l" rtl="0">
              <a:spcBef>
                <a:spcPts val="0"/>
              </a:spcBef>
              <a:spcAft>
                <a:spcPts val="0"/>
              </a:spcAft>
              <a:buSzPts val="1400"/>
              <a:buChar char="○"/>
            </a:pPr>
            <a:r>
              <a:rPr lang="en" dirty="0"/>
              <a:t>Summary of policies/strategies you will be assessing</a:t>
            </a:r>
            <a:endParaRPr dirty="0"/>
          </a:p>
          <a:p>
            <a:pPr marL="914400" lvl="1" indent="-317500" algn="l" rtl="0">
              <a:spcBef>
                <a:spcPts val="0"/>
              </a:spcBef>
              <a:spcAft>
                <a:spcPts val="0"/>
              </a:spcAft>
              <a:buSzPts val="1400"/>
              <a:buChar char="○"/>
            </a:pPr>
            <a:r>
              <a:rPr lang="en" dirty="0"/>
              <a:t>QSort tables to guide your categorization of each strategy relative to each other</a:t>
            </a:r>
            <a:endParaRPr dirty="0"/>
          </a:p>
          <a:p>
            <a:pPr marL="914400" lvl="1" indent="-317500" algn="l" rtl="0">
              <a:spcBef>
                <a:spcPts val="0"/>
              </a:spcBef>
              <a:spcAft>
                <a:spcPts val="0"/>
              </a:spcAft>
              <a:buSzPts val="1400"/>
              <a:buChar char="○"/>
            </a:pPr>
            <a:r>
              <a:rPr lang="en" dirty="0"/>
              <a:t>Additional questions for you to reflect upon after completing the sorting activity</a:t>
            </a:r>
            <a:endParaRPr dirty="0"/>
          </a:p>
          <a:p>
            <a:pPr marL="0" lvl="0" indent="0" algn="l" rtl="0">
              <a:spcBef>
                <a:spcPts val="1200"/>
              </a:spcBef>
              <a:spcAft>
                <a:spcPts val="0"/>
              </a:spcAft>
              <a:buNone/>
            </a:pPr>
            <a:endParaRPr dirty="0"/>
          </a:p>
          <a:p>
            <a:pPr marL="457200" lvl="0" indent="-342900" algn="l" rtl="0">
              <a:spcBef>
                <a:spcPts val="1200"/>
              </a:spcBef>
              <a:spcAft>
                <a:spcPts val="0"/>
              </a:spcAft>
              <a:buSzPts val="1800"/>
              <a:buChar char="●"/>
            </a:pPr>
            <a:r>
              <a:rPr lang="en" dirty="0"/>
              <a:t>Please let us know if you have any questions or would benefit from some additional clarification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Clr>
                <a:schemeClr val="dk1"/>
              </a:buClr>
              <a:buSzPts val="1100"/>
              <a:buFont typeface="Arial"/>
              <a:buNone/>
            </a:pPr>
            <a:r>
              <a:rPr lang="en" sz="2800" dirty="0">
                <a:solidFill>
                  <a:schemeClr val="tx1"/>
                </a:solidFill>
                <a:highlight>
                  <a:srgbClr val="FFFF00"/>
                </a:highlight>
              </a:rPr>
              <a:t>INTRODUCE YOUR NAME HERE</a:t>
            </a:r>
            <a:endParaRPr dirty="0">
              <a:solidFill>
                <a:schemeClr val="tx1"/>
              </a:solidFill>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713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Summary Table of Strategies</a:t>
            </a:r>
            <a:endParaRPr/>
          </a:p>
        </p:txBody>
      </p:sp>
      <p:graphicFrame>
        <p:nvGraphicFramePr>
          <p:cNvPr id="66" name="Google Shape;66;p15"/>
          <p:cNvGraphicFramePr/>
          <p:nvPr/>
        </p:nvGraphicFramePr>
        <p:xfrm>
          <a:off x="-25" y="636750"/>
          <a:ext cx="9144000" cy="4419420"/>
        </p:xfrm>
        <a:graphic>
          <a:graphicData uri="http://schemas.openxmlformats.org/drawingml/2006/table">
            <a:tbl>
              <a:tblPr>
                <a:noFill/>
                <a:tableStyleId>{4364E3DB-0A1B-44C7-8378-E6C258C4B956}</a:tableStyleId>
              </a:tblPr>
              <a:tblGrid>
                <a:gridCol w="1270450">
                  <a:extLst>
                    <a:ext uri="{9D8B030D-6E8A-4147-A177-3AD203B41FA5}">
                      <a16:colId xmlns:a16="http://schemas.microsoft.com/office/drawing/2014/main" val="20000"/>
                    </a:ext>
                  </a:extLst>
                </a:gridCol>
                <a:gridCol w="2329575">
                  <a:extLst>
                    <a:ext uri="{9D8B030D-6E8A-4147-A177-3AD203B41FA5}">
                      <a16:colId xmlns:a16="http://schemas.microsoft.com/office/drawing/2014/main" val="20001"/>
                    </a:ext>
                  </a:extLst>
                </a:gridCol>
                <a:gridCol w="5543975">
                  <a:extLst>
                    <a:ext uri="{9D8B030D-6E8A-4147-A177-3AD203B41FA5}">
                      <a16:colId xmlns:a16="http://schemas.microsoft.com/office/drawing/2014/main" val="20002"/>
                    </a:ext>
                  </a:extLst>
                </a:gridCol>
              </a:tblGrid>
              <a:tr h="370275">
                <a:tc>
                  <a:txBody>
                    <a:bodyPr/>
                    <a:lstStyle/>
                    <a:p>
                      <a:pPr marL="0" lvl="0" indent="0" algn="ctr" rtl="0">
                        <a:spcBef>
                          <a:spcPts val="0"/>
                        </a:spcBef>
                        <a:spcAft>
                          <a:spcPts val="0"/>
                        </a:spcAft>
                        <a:buNone/>
                      </a:pPr>
                      <a:r>
                        <a:rPr lang="en" b="1"/>
                        <a:t>Strategy #</a:t>
                      </a:r>
                      <a:endParaRPr b="1"/>
                    </a:p>
                  </a:txBody>
                  <a:tcPr marL="91425" marR="91425" marT="91425" marB="91425"/>
                </a:tc>
                <a:tc>
                  <a:txBody>
                    <a:bodyPr/>
                    <a:lstStyle/>
                    <a:p>
                      <a:pPr marL="0" lvl="0" indent="0" algn="ctr" rtl="0">
                        <a:spcBef>
                          <a:spcPts val="0"/>
                        </a:spcBef>
                        <a:spcAft>
                          <a:spcPts val="0"/>
                        </a:spcAft>
                        <a:buNone/>
                      </a:pPr>
                      <a:r>
                        <a:rPr lang="en" b="1"/>
                        <a:t>Strategy</a:t>
                      </a:r>
                      <a:endParaRPr b="1"/>
                    </a:p>
                  </a:txBody>
                  <a:tcPr marL="91425" marR="91425" marT="91425" marB="91425"/>
                </a:tc>
                <a:tc>
                  <a:txBody>
                    <a:bodyPr/>
                    <a:lstStyle/>
                    <a:p>
                      <a:pPr marL="0" lvl="0" indent="0" algn="ctr" rtl="0">
                        <a:spcBef>
                          <a:spcPts val="0"/>
                        </a:spcBef>
                        <a:spcAft>
                          <a:spcPts val="0"/>
                        </a:spcAft>
                        <a:buNone/>
                      </a:pPr>
                      <a:r>
                        <a:rPr lang="en" b="1"/>
                        <a:t>Description</a:t>
                      </a:r>
                      <a:endParaRPr b="1"/>
                    </a:p>
                  </a:txBody>
                  <a:tcPr marL="91425" marR="91425" marT="91425" marB="91425"/>
                </a:tc>
                <a:extLst>
                  <a:ext uri="{0D108BD9-81ED-4DB2-BD59-A6C34878D82A}">
                    <a16:rowId xmlns:a16="http://schemas.microsoft.com/office/drawing/2014/main" val="10000"/>
                  </a:ext>
                </a:extLst>
              </a:tr>
              <a:tr h="669975">
                <a:tc>
                  <a:txBody>
                    <a:bodyPr/>
                    <a:lstStyle/>
                    <a:p>
                      <a:pPr marL="0" lvl="0" indent="0" algn="l" rtl="0">
                        <a:spcBef>
                          <a:spcPts val="0"/>
                        </a:spcBef>
                        <a:spcAft>
                          <a:spcPts val="0"/>
                        </a:spcAft>
                        <a:buNone/>
                      </a:pPr>
                      <a:r>
                        <a:rPr lang="en"/>
                        <a:t>1</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Backup energy – fossil fuels</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Require public charging stations to have on-site backup energy to maintain operability during power outages. The backup power would come from diesel generators (or similar)</a:t>
                      </a:r>
                      <a:endParaRPr/>
                    </a:p>
                  </a:txBody>
                  <a:tcPr marL="91425" marR="91425" marT="91425" marB="91425"/>
                </a:tc>
                <a:extLst>
                  <a:ext uri="{0D108BD9-81ED-4DB2-BD59-A6C34878D82A}">
                    <a16:rowId xmlns:a16="http://schemas.microsoft.com/office/drawing/2014/main" val="10001"/>
                  </a:ext>
                </a:extLst>
              </a:tr>
              <a:tr h="669975">
                <a:tc>
                  <a:txBody>
                    <a:bodyPr/>
                    <a:lstStyle/>
                    <a:p>
                      <a:pPr marL="0" lvl="0" indent="0" algn="l" rtl="0">
                        <a:spcBef>
                          <a:spcPts val="0"/>
                        </a:spcBef>
                        <a:spcAft>
                          <a:spcPts val="0"/>
                        </a:spcAft>
                        <a:buNone/>
                      </a:pPr>
                      <a:r>
                        <a:rPr lang="en"/>
                        <a:t>2</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Backup energy - microgrid</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Require public charging stations to have on-site backup energy to maintain operability during power outages. The backup power would come from microgrids consisting of some combination of solar/wind energy and battery energy storage</a:t>
                      </a:r>
                      <a:endParaRPr/>
                    </a:p>
                  </a:txBody>
                  <a:tcPr marL="91425" marR="91425" marT="91425" marB="91425"/>
                </a:tc>
                <a:extLst>
                  <a:ext uri="{0D108BD9-81ED-4DB2-BD59-A6C34878D82A}">
                    <a16:rowId xmlns:a16="http://schemas.microsoft.com/office/drawing/2014/main" val="10002"/>
                  </a:ext>
                </a:extLst>
              </a:tr>
              <a:tr h="669975">
                <a:tc>
                  <a:txBody>
                    <a:bodyPr/>
                    <a:lstStyle/>
                    <a:p>
                      <a:pPr marL="0" lvl="0" indent="0" algn="l" rtl="0">
                        <a:spcBef>
                          <a:spcPts val="0"/>
                        </a:spcBef>
                        <a:spcAft>
                          <a:spcPts val="0"/>
                        </a:spcAft>
                        <a:buNone/>
                      </a:pPr>
                      <a:r>
                        <a:rPr lang="en"/>
                        <a:t>3</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Free/open charging</a:t>
                      </a:r>
                      <a:endParaRPr/>
                    </a:p>
                  </a:txBody>
                  <a:tcPr marL="91425" marR="91425" marT="91425" marB="91425" anchor="ctr"/>
                </a:tc>
                <a:tc>
                  <a:txBody>
                    <a:bodyPr/>
                    <a:lstStyle/>
                    <a:p>
                      <a:pPr marL="0" lvl="0" indent="0" algn="l" rtl="0">
                        <a:spcBef>
                          <a:spcPts val="0"/>
                        </a:spcBef>
                        <a:spcAft>
                          <a:spcPts val="0"/>
                        </a:spcAft>
                        <a:buNone/>
                      </a:pPr>
                      <a:r>
                        <a:rPr lang="en" sz="1200"/>
                        <a:t>During emergency declarations, public charging stations would be “unlocked” so that people can essentially drive up and immediately start charging without having to pay or interface with any kind of app or point of service system. Charging companies could be reimbursed by federal/state governments</a:t>
                      </a:r>
                      <a:endParaRPr sz="1200"/>
                    </a:p>
                  </a:txBody>
                  <a:tcPr marL="91425" marR="91425" marT="91425" marB="91425"/>
                </a:tc>
                <a:extLst>
                  <a:ext uri="{0D108BD9-81ED-4DB2-BD59-A6C34878D82A}">
                    <a16:rowId xmlns:a16="http://schemas.microsoft.com/office/drawing/2014/main" val="10003"/>
                  </a:ext>
                </a:extLst>
              </a:tr>
              <a:tr h="669975">
                <a:tc>
                  <a:txBody>
                    <a:bodyPr/>
                    <a:lstStyle/>
                    <a:p>
                      <a:pPr marL="0" lvl="0" indent="0" algn="l" rtl="0">
                        <a:spcBef>
                          <a:spcPts val="0"/>
                        </a:spcBef>
                        <a:spcAft>
                          <a:spcPts val="0"/>
                        </a:spcAft>
                        <a:buNone/>
                      </a:pPr>
                      <a:r>
                        <a:rPr lang="en"/>
                        <a:t>4</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Mobile chargers at origin</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Dispatch mobile chargers (of any type) to evacuation zones prior to the event to increase the initial state of charge and reduce the need for charging along the evacuation route</a:t>
                      </a:r>
                      <a:endParaRPr/>
                    </a:p>
                  </a:txBody>
                  <a:tcPr marL="91425" marR="91425" marT="91425" marB="91425"/>
                </a:tc>
                <a:extLst>
                  <a:ext uri="{0D108BD9-81ED-4DB2-BD59-A6C34878D82A}">
                    <a16:rowId xmlns:a16="http://schemas.microsoft.com/office/drawing/2014/main" val="10004"/>
                  </a:ext>
                </a:extLst>
              </a:tr>
              <a:tr h="669975">
                <a:tc>
                  <a:txBody>
                    <a:bodyPr/>
                    <a:lstStyle/>
                    <a:p>
                      <a:pPr marL="0" lvl="0" indent="0" algn="l" rtl="0">
                        <a:spcBef>
                          <a:spcPts val="0"/>
                        </a:spcBef>
                        <a:spcAft>
                          <a:spcPts val="0"/>
                        </a:spcAft>
                        <a:buNone/>
                      </a:pPr>
                      <a:r>
                        <a:rPr lang="en"/>
                        <a:t>5</a:t>
                      </a:r>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Mobile chargers to supplement existing charging locations</a:t>
                      </a:r>
                      <a:endParaRPr sz="1200">
                        <a:solidFill>
                          <a:schemeClr val="dk1"/>
                        </a:solidFill>
                      </a:endParaRPr>
                    </a:p>
                  </a:txBody>
                  <a:tcPr marL="91425" marR="91425" marT="91425" marB="91425" anchor="ctr"/>
                </a:tc>
                <a:tc>
                  <a:txBody>
                    <a:bodyPr/>
                    <a:lstStyle/>
                    <a:p>
                      <a:pPr marL="0" lvl="0" indent="0" algn="l" rtl="0">
                        <a:spcBef>
                          <a:spcPts val="0"/>
                        </a:spcBef>
                        <a:spcAft>
                          <a:spcPts val="0"/>
                        </a:spcAft>
                        <a:buNone/>
                      </a:pPr>
                      <a:r>
                        <a:rPr lang="en" sz="1200">
                          <a:solidFill>
                            <a:schemeClr val="dk1"/>
                          </a:solidFill>
                        </a:rPr>
                        <a:t>Dispatch mobile charges (of any type) to sites with existing stationery charging infrastructure. The mobile chargers would act as supplemental resources to the existing charging infrastructure</a:t>
                      </a:r>
                      <a:endParaRPr sz="1200">
                        <a:solidFill>
                          <a:schemeClr val="dk1"/>
                        </a:solidFill>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713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Summary Table of Strategies (Continued)</a:t>
            </a:r>
            <a:endParaRPr/>
          </a:p>
        </p:txBody>
      </p:sp>
      <p:graphicFrame>
        <p:nvGraphicFramePr>
          <p:cNvPr id="72" name="Google Shape;72;p16"/>
          <p:cNvGraphicFramePr/>
          <p:nvPr/>
        </p:nvGraphicFramePr>
        <p:xfrm>
          <a:off x="-25" y="636750"/>
          <a:ext cx="9144000" cy="4113510"/>
        </p:xfrm>
        <a:graphic>
          <a:graphicData uri="http://schemas.openxmlformats.org/drawingml/2006/table">
            <a:tbl>
              <a:tblPr>
                <a:noFill/>
                <a:tableStyleId>{4364E3DB-0A1B-44C7-8378-E6C258C4B956}</a:tableStyleId>
              </a:tblPr>
              <a:tblGrid>
                <a:gridCol w="1270450">
                  <a:extLst>
                    <a:ext uri="{9D8B030D-6E8A-4147-A177-3AD203B41FA5}">
                      <a16:colId xmlns:a16="http://schemas.microsoft.com/office/drawing/2014/main" val="20000"/>
                    </a:ext>
                  </a:extLst>
                </a:gridCol>
                <a:gridCol w="2329575">
                  <a:extLst>
                    <a:ext uri="{9D8B030D-6E8A-4147-A177-3AD203B41FA5}">
                      <a16:colId xmlns:a16="http://schemas.microsoft.com/office/drawing/2014/main" val="20001"/>
                    </a:ext>
                  </a:extLst>
                </a:gridCol>
                <a:gridCol w="5543975">
                  <a:extLst>
                    <a:ext uri="{9D8B030D-6E8A-4147-A177-3AD203B41FA5}">
                      <a16:colId xmlns:a16="http://schemas.microsoft.com/office/drawing/2014/main" val="20002"/>
                    </a:ext>
                  </a:extLst>
                </a:gridCol>
              </a:tblGrid>
              <a:tr h="370275">
                <a:tc>
                  <a:txBody>
                    <a:bodyPr/>
                    <a:lstStyle/>
                    <a:p>
                      <a:pPr marL="0" lvl="0" indent="0" algn="ctr" rtl="0">
                        <a:spcBef>
                          <a:spcPts val="0"/>
                        </a:spcBef>
                        <a:spcAft>
                          <a:spcPts val="0"/>
                        </a:spcAft>
                        <a:buNone/>
                      </a:pPr>
                      <a:r>
                        <a:rPr lang="en" b="1"/>
                        <a:t>Strategy #</a:t>
                      </a:r>
                      <a:endParaRPr b="1"/>
                    </a:p>
                  </a:txBody>
                  <a:tcPr marL="91425" marR="91425" marT="91425" marB="91425"/>
                </a:tc>
                <a:tc>
                  <a:txBody>
                    <a:bodyPr/>
                    <a:lstStyle/>
                    <a:p>
                      <a:pPr marL="0" lvl="0" indent="0" algn="ctr" rtl="0">
                        <a:spcBef>
                          <a:spcPts val="0"/>
                        </a:spcBef>
                        <a:spcAft>
                          <a:spcPts val="0"/>
                        </a:spcAft>
                        <a:buNone/>
                      </a:pPr>
                      <a:r>
                        <a:rPr lang="en" b="1"/>
                        <a:t>Strategy</a:t>
                      </a:r>
                      <a:endParaRPr b="1"/>
                    </a:p>
                  </a:txBody>
                  <a:tcPr marL="91425" marR="91425" marT="91425" marB="91425"/>
                </a:tc>
                <a:tc>
                  <a:txBody>
                    <a:bodyPr/>
                    <a:lstStyle/>
                    <a:p>
                      <a:pPr marL="0" lvl="0" indent="0" algn="ctr" rtl="0">
                        <a:spcBef>
                          <a:spcPts val="0"/>
                        </a:spcBef>
                        <a:spcAft>
                          <a:spcPts val="0"/>
                        </a:spcAft>
                        <a:buNone/>
                      </a:pPr>
                      <a:r>
                        <a:rPr lang="en" b="1"/>
                        <a:t>Description</a:t>
                      </a:r>
                      <a:endParaRPr b="1"/>
                    </a:p>
                  </a:txBody>
                  <a:tcPr marL="91425" marR="91425" marT="91425" marB="91425"/>
                </a:tc>
                <a:extLst>
                  <a:ext uri="{0D108BD9-81ED-4DB2-BD59-A6C34878D82A}">
                    <a16:rowId xmlns:a16="http://schemas.microsoft.com/office/drawing/2014/main" val="10000"/>
                  </a:ext>
                </a:extLst>
              </a:tr>
              <a:tr h="669975">
                <a:tc>
                  <a:txBody>
                    <a:bodyPr/>
                    <a:lstStyle/>
                    <a:p>
                      <a:pPr marL="0" lvl="0" indent="0" algn="l" rtl="0">
                        <a:spcBef>
                          <a:spcPts val="0"/>
                        </a:spcBef>
                        <a:spcAft>
                          <a:spcPts val="0"/>
                        </a:spcAft>
                        <a:buNone/>
                      </a:pPr>
                      <a:r>
                        <a:rPr lang="en"/>
                        <a:t>6</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Mobile chargers at designated locations along evacuation route</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Dispatch mobile chargers (of any type) to designated locations (e.g., rest stops, shopping centers, etc.) along evacuation routes that have minimal existing charging infrastructure</a:t>
                      </a:r>
                      <a:endParaRPr/>
                    </a:p>
                  </a:txBody>
                  <a:tcPr marL="91425" marR="91425" marT="91425" marB="91425"/>
                </a:tc>
                <a:extLst>
                  <a:ext uri="{0D108BD9-81ED-4DB2-BD59-A6C34878D82A}">
                    <a16:rowId xmlns:a16="http://schemas.microsoft.com/office/drawing/2014/main" val="10001"/>
                  </a:ext>
                </a:extLst>
              </a:tr>
              <a:tr h="669975">
                <a:tc>
                  <a:txBody>
                    <a:bodyPr/>
                    <a:lstStyle/>
                    <a:p>
                      <a:pPr marL="0" lvl="0" indent="0" algn="l" rtl="0">
                        <a:spcBef>
                          <a:spcPts val="0"/>
                        </a:spcBef>
                        <a:spcAft>
                          <a:spcPts val="0"/>
                        </a:spcAft>
                        <a:buNone/>
                      </a:pPr>
                      <a:r>
                        <a:rPr lang="en"/>
                        <a:t>7</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Minimum “charge reserve” required on all EVs</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On all EVs, require a certain % of battery charge to be kept in reserve that can be unlocked during an emergency declaration</a:t>
                      </a:r>
                      <a:endParaRPr/>
                    </a:p>
                  </a:txBody>
                  <a:tcPr marL="91425" marR="91425" marT="91425" marB="91425"/>
                </a:tc>
                <a:extLst>
                  <a:ext uri="{0D108BD9-81ED-4DB2-BD59-A6C34878D82A}">
                    <a16:rowId xmlns:a16="http://schemas.microsoft.com/office/drawing/2014/main" val="10002"/>
                  </a:ext>
                </a:extLst>
              </a:tr>
              <a:tr h="669975">
                <a:tc>
                  <a:txBody>
                    <a:bodyPr/>
                    <a:lstStyle/>
                    <a:p>
                      <a:pPr marL="0" lvl="0" indent="0" algn="l" rtl="0">
                        <a:spcBef>
                          <a:spcPts val="0"/>
                        </a:spcBef>
                        <a:spcAft>
                          <a:spcPts val="0"/>
                        </a:spcAft>
                        <a:buNone/>
                      </a:pPr>
                      <a:r>
                        <a:rPr lang="en"/>
                        <a:t>8</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Bussing/shuttling people out of evacuation zones</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Use buses or shuttles (or any type) to facilitate the evacuation of people rather than relying on personal vehicles. This could reduce congestion on the road, as well as demand at downstream charging stations</a:t>
                      </a:r>
                      <a:endParaRPr/>
                    </a:p>
                  </a:txBody>
                  <a:tcPr marL="91425" marR="91425" marT="91425" marB="91425"/>
                </a:tc>
                <a:extLst>
                  <a:ext uri="{0D108BD9-81ED-4DB2-BD59-A6C34878D82A}">
                    <a16:rowId xmlns:a16="http://schemas.microsoft.com/office/drawing/2014/main" val="10003"/>
                  </a:ext>
                </a:extLst>
              </a:tr>
              <a:tr h="669975">
                <a:tc>
                  <a:txBody>
                    <a:bodyPr/>
                    <a:lstStyle/>
                    <a:p>
                      <a:pPr marL="0" lvl="0" indent="0" algn="l" rtl="0">
                        <a:spcBef>
                          <a:spcPts val="0"/>
                        </a:spcBef>
                        <a:spcAft>
                          <a:spcPts val="0"/>
                        </a:spcAft>
                        <a:buNone/>
                      </a:pPr>
                      <a:r>
                        <a:rPr lang="en"/>
                        <a:t>9</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Staggered departures from evacuation zones</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Specify time periods when different locations can evacuate. This could reduce congestion on the road, as well as demand at downstream charging stations</a:t>
                      </a:r>
                      <a:endParaRPr/>
                    </a:p>
                  </a:txBody>
                  <a:tcPr marL="91425" marR="91425" marT="91425" marB="91425"/>
                </a:tc>
                <a:extLst>
                  <a:ext uri="{0D108BD9-81ED-4DB2-BD59-A6C34878D82A}">
                    <a16:rowId xmlns:a16="http://schemas.microsoft.com/office/drawing/2014/main" val="10004"/>
                  </a:ext>
                </a:extLst>
              </a:tr>
              <a:tr h="669975">
                <a:tc>
                  <a:txBody>
                    <a:bodyPr/>
                    <a:lstStyle/>
                    <a:p>
                      <a:pPr marL="0" lvl="0" indent="0" algn="l" rtl="0">
                        <a:spcBef>
                          <a:spcPts val="0"/>
                        </a:spcBef>
                        <a:spcAft>
                          <a:spcPts val="0"/>
                        </a:spcAft>
                        <a:buNone/>
                      </a:pPr>
                      <a:r>
                        <a:rPr lang="en"/>
                        <a:t>10</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Minimum “spinning reserves” required in the power grid</a:t>
                      </a:r>
                      <a:endParaRPr/>
                    </a:p>
                  </a:txBody>
                  <a:tcPr marL="91425" marR="91425" marT="91425" marB="91425"/>
                </a:tc>
                <a:tc>
                  <a:txBody>
                    <a:bodyPr/>
                    <a:lstStyle/>
                    <a:p>
                      <a:pPr marL="0" lvl="0" indent="0" algn="l" rtl="0">
                        <a:spcBef>
                          <a:spcPts val="0"/>
                        </a:spcBef>
                        <a:spcAft>
                          <a:spcPts val="0"/>
                        </a:spcAft>
                        <a:buNone/>
                      </a:pPr>
                      <a:r>
                        <a:rPr lang="en" sz="1200">
                          <a:solidFill>
                            <a:schemeClr val="dk1"/>
                          </a:solidFill>
                        </a:rPr>
                        <a:t>Require utility companies and electricity grid operators to keep a certain amount of electricity generation capacity on “standby”. This can support a rapid uptick in charging demand prior to and during an evacuation. It also provides some “backup” capacity in reduced generation from solar/wind</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78250" y="1035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QSort 1: Which strategies/policies do you feel will be most/least effective at supporting evacuation of EVs during an extreme event?</a:t>
            </a:r>
            <a:endParaRPr/>
          </a:p>
        </p:txBody>
      </p:sp>
      <p:sp>
        <p:nvSpPr>
          <p:cNvPr id="78" name="Google Shape;78;p17"/>
          <p:cNvSpPr/>
          <p:nvPr/>
        </p:nvSpPr>
        <p:spPr>
          <a:xfrm>
            <a:off x="708200" y="17653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7"/>
          <p:cNvSpPr/>
          <p:nvPr/>
        </p:nvSpPr>
        <p:spPr>
          <a:xfrm>
            <a:off x="1627100" y="17653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 name="Google Shape;80;p17"/>
          <p:cNvSpPr/>
          <p:nvPr/>
        </p:nvSpPr>
        <p:spPr>
          <a:xfrm>
            <a:off x="1627100" y="25068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 name="Google Shape;81;p17"/>
          <p:cNvSpPr/>
          <p:nvPr/>
        </p:nvSpPr>
        <p:spPr>
          <a:xfrm>
            <a:off x="2546000" y="17653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17"/>
          <p:cNvSpPr/>
          <p:nvPr/>
        </p:nvSpPr>
        <p:spPr>
          <a:xfrm>
            <a:off x="2546000" y="25068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17"/>
          <p:cNvSpPr/>
          <p:nvPr/>
        </p:nvSpPr>
        <p:spPr>
          <a:xfrm>
            <a:off x="2546000" y="32483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17"/>
          <p:cNvSpPr/>
          <p:nvPr/>
        </p:nvSpPr>
        <p:spPr>
          <a:xfrm>
            <a:off x="2546000" y="39878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7"/>
          <p:cNvSpPr/>
          <p:nvPr/>
        </p:nvSpPr>
        <p:spPr>
          <a:xfrm>
            <a:off x="3464900" y="17653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7"/>
          <p:cNvSpPr/>
          <p:nvPr/>
        </p:nvSpPr>
        <p:spPr>
          <a:xfrm>
            <a:off x="3464900" y="25068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p:nvPr/>
        </p:nvSpPr>
        <p:spPr>
          <a:xfrm>
            <a:off x="4383800" y="1765300"/>
            <a:ext cx="918900" cy="739500"/>
          </a:xfrm>
          <a:prstGeom prst="rect">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 name="Google Shape;88;p17"/>
          <p:cNvSpPr txBox="1"/>
          <p:nvPr/>
        </p:nvSpPr>
        <p:spPr>
          <a:xfrm>
            <a:off x="2545975" y="1395500"/>
            <a:ext cx="918900" cy="3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0</a:t>
            </a:r>
            <a:endParaRPr sz="1800">
              <a:solidFill>
                <a:schemeClr val="dk2"/>
              </a:solidFill>
            </a:endParaRPr>
          </a:p>
        </p:txBody>
      </p:sp>
      <p:sp>
        <p:nvSpPr>
          <p:cNvPr id="89" name="Google Shape;89;p17"/>
          <p:cNvSpPr txBox="1"/>
          <p:nvPr/>
        </p:nvSpPr>
        <p:spPr>
          <a:xfrm>
            <a:off x="1627050" y="1395500"/>
            <a:ext cx="918900" cy="3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90" name="Google Shape;90;p17"/>
          <p:cNvSpPr txBox="1"/>
          <p:nvPr/>
        </p:nvSpPr>
        <p:spPr>
          <a:xfrm>
            <a:off x="708200" y="1358963"/>
            <a:ext cx="918900" cy="3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-2</a:t>
            </a:r>
            <a:endParaRPr sz="1800">
              <a:solidFill>
                <a:schemeClr val="dk2"/>
              </a:solidFill>
            </a:endParaRPr>
          </a:p>
        </p:txBody>
      </p:sp>
      <p:sp>
        <p:nvSpPr>
          <p:cNvPr id="91" name="Google Shape;91;p17"/>
          <p:cNvSpPr txBox="1"/>
          <p:nvPr/>
        </p:nvSpPr>
        <p:spPr>
          <a:xfrm>
            <a:off x="3464950" y="1395500"/>
            <a:ext cx="918900" cy="3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+1</a:t>
            </a:r>
            <a:endParaRPr sz="1800">
              <a:solidFill>
                <a:schemeClr val="dk2"/>
              </a:solidFill>
            </a:endParaRPr>
          </a:p>
        </p:txBody>
      </p:sp>
      <p:sp>
        <p:nvSpPr>
          <p:cNvPr id="92" name="Google Shape;92;p17"/>
          <p:cNvSpPr txBox="1"/>
          <p:nvPr/>
        </p:nvSpPr>
        <p:spPr>
          <a:xfrm>
            <a:off x="4383900" y="1395500"/>
            <a:ext cx="918900" cy="3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+2</a:t>
            </a:r>
            <a:endParaRPr sz="1800">
              <a:solidFill>
                <a:schemeClr val="dk2"/>
              </a:solidFill>
            </a:endParaRPr>
          </a:p>
        </p:txBody>
      </p:sp>
      <p:sp>
        <p:nvSpPr>
          <p:cNvPr id="93" name="Google Shape;93;p17"/>
          <p:cNvSpPr txBox="1"/>
          <p:nvPr/>
        </p:nvSpPr>
        <p:spPr>
          <a:xfrm>
            <a:off x="6506150" y="1271675"/>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1:</a:t>
            </a:r>
            <a:endParaRPr sz="800">
              <a:solidFill>
                <a:schemeClr val="dk2"/>
              </a:solidFill>
            </a:endParaRPr>
          </a:p>
          <a:p>
            <a:pPr marL="0" lvl="0" indent="0" algn="ctr" rtl="0">
              <a:spcBef>
                <a:spcPts val="0"/>
              </a:spcBef>
              <a:spcAft>
                <a:spcPts val="0"/>
              </a:spcAft>
              <a:buNone/>
            </a:pPr>
            <a:r>
              <a:rPr lang="en" sz="800">
                <a:solidFill>
                  <a:schemeClr val="dk2"/>
                </a:solidFill>
              </a:rPr>
              <a:t>Backup Energy </a:t>
            </a:r>
            <a:endParaRPr sz="800">
              <a:solidFill>
                <a:schemeClr val="dk2"/>
              </a:solidFill>
            </a:endParaRPr>
          </a:p>
          <a:p>
            <a:pPr marL="0" lvl="0" indent="0" algn="ctr" rtl="0">
              <a:spcBef>
                <a:spcPts val="0"/>
              </a:spcBef>
              <a:spcAft>
                <a:spcPts val="0"/>
              </a:spcAft>
              <a:buNone/>
            </a:pPr>
            <a:r>
              <a:rPr lang="en" sz="800">
                <a:solidFill>
                  <a:schemeClr val="dk2"/>
                </a:solidFill>
              </a:rPr>
              <a:t>(fossil fuels)</a:t>
            </a:r>
            <a:endParaRPr sz="800">
              <a:solidFill>
                <a:schemeClr val="dk2"/>
              </a:solidFill>
            </a:endParaRPr>
          </a:p>
        </p:txBody>
      </p:sp>
      <p:sp>
        <p:nvSpPr>
          <p:cNvPr id="94" name="Google Shape;94;p17"/>
          <p:cNvSpPr txBox="1"/>
          <p:nvPr/>
        </p:nvSpPr>
        <p:spPr>
          <a:xfrm>
            <a:off x="6506150" y="2047600"/>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2:</a:t>
            </a:r>
            <a:endParaRPr sz="800">
              <a:solidFill>
                <a:schemeClr val="dk2"/>
              </a:solidFill>
            </a:endParaRPr>
          </a:p>
          <a:p>
            <a:pPr marL="0" lvl="0" indent="0" algn="ctr" rtl="0">
              <a:spcBef>
                <a:spcPts val="0"/>
              </a:spcBef>
              <a:spcAft>
                <a:spcPts val="0"/>
              </a:spcAft>
              <a:buNone/>
            </a:pPr>
            <a:r>
              <a:rPr lang="en" sz="800">
                <a:solidFill>
                  <a:schemeClr val="dk2"/>
                </a:solidFill>
              </a:rPr>
              <a:t>Backup Energy (microgrid)</a:t>
            </a:r>
            <a:endParaRPr sz="800">
              <a:solidFill>
                <a:schemeClr val="dk2"/>
              </a:solidFill>
            </a:endParaRPr>
          </a:p>
        </p:txBody>
      </p:sp>
      <p:sp>
        <p:nvSpPr>
          <p:cNvPr id="95" name="Google Shape;95;p17"/>
          <p:cNvSpPr txBox="1"/>
          <p:nvPr/>
        </p:nvSpPr>
        <p:spPr>
          <a:xfrm>
            <a:off x="6506150" y="2823525"/>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3:</a:t>
            </a:r>
            <a:endParaRPr sz="800">
              <a:solidFill>
                <a:schemeClr val="dk2"/>
              </a:solidFill>
            </a:endParaRPr>
          </a:p>
          <a:p>
            <a:pPr marL="0" lvl="0" indent="0" algn="ctr" rtl="0">
              <a:spcBef>
                <a:spcPts val="0"/>
              </a:spcBef>
              <a:spcAft>
                <a:spcPts val="0"/>
              </a:spcAft>
              <a:buNone/>
            </a:pPr>
            <a:r>
              <a:rPr lang="en" sz="800">
                <a:solidFill>
                  <a:schemeClr val="dk2"/>
                </a:solidFill>
              </a:rPr>
              <a:t>Free/open charging</a:t>
            </a:r>
            <a:endParaRPr sz="800">
              <a:solidFill>
                <a:schemeClr val="dk2"/>
              </a:solidFill>
            </a:endParaRPr>
          </a:p>
        </p:txBody>
      </p:sp>
      <p:sp>
        <p:nvSpPr>
          <p:cNvPr id="96" name="Google Shape;96;p17"/>
          <p:cNvSpPr txBox="1"/>
          <p:nvPr/>
        </p:nvSpPr>
        <p:spPr>
          <a:xfrm>
            <a:off x="6506150" y="3586100"/>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4:</a:t>
            </a:r>
            <a:endParaRPr sz="800">
              <a:solidFill>
                <a:schemeClr val="dk2"/>
              </a:solidFill>
            </a:endParaRPr>
          </a:p>
          <a:p>
            <a:pPr marL="0" lvl="0" indent="0" algn="ctr" rtl="0">
              <a:spcBef>
                <a:spcPts val="0"/>
              </a:spcBef>
              <a:spcAft>
                <a:spcPts val="0"/>
              </a:spcAft>
              <a:buNone/>
            </a:pPr>
            <a:r>
              <a:rPr lang="en" sz="800">
                <a:solidFill>
                  <a:schemeClr val="dk2"/>
                </a:solidFill>
              </a:rPr>
              <a:t>Mobile chargers at origin</a:t>
            </a:r>
            <a:endParaRPr sz="800">
              <a:solidFill>
                <a:schemeClr val="dk2"/>
              </a:solidFill>
            </a:endParaRPr>
          </a:p>
        </p:txBody>
      </p:sp>
      <p:sp>
        <p:nvSpPr>
          <p:cNvPr id="97" name="Google Shape;97;p17"/>
          <p:cNvSpPr txBox="1"/>
          <p:nvPr/>
        </p:nvSpPr>
        <p:spPr>
          <a:xfrm>
            <a:off x="6506150" y="4375375"/>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5:</a:t>
            </a:r>
            <a:endParaRPr sz="800">
              <a:solidFill>
                <a:schemeClr val="dk2"/>
              </a:solidFill>
            </a:endParaRPr>
          </a:p>
          <a:p>
            <a:pPr marL="0" lvl="0" indent="0" algn="ctr" rtl="0">
              <a:spcBef>
                <a:spcPts val="0"/>
              </a:spcBef>
              <a:spcAft>
                <a:spcPts val="0"/>
              </a:spcAft>
              <a:buNone/>
            </a:pPr>
            <a:r>
              <a:rPr lang="en" sz="800">
                <a:solidFill>
                  <a:schemeClr val="dk2"/>
                </a:solidFill>
              </a:rPr>
              <a:t>Mobile chargers at existing spots</a:t>
            </a:r>
            <a:endParaRPr sz="800">
              <a:solidFill>
                <a:schemeClr val="dk2"/>
              </a:solidFill>
            </a:endParaRPr>
          </a:p>
        </p:txBody>
      </p:sp>
      <p:sp>
        <p:nvSpPr>
          <p:cNvPr id="98" name="Google Shape;98;p17"/>
          <p:cNvSpPr txBox="1"/>
          <p:nvPr/>
        </p:nvSpPr>
        <p:spPr>
          <a:xfrm>
            <a:off x="7543700" y="1271675"/>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6:</a:t>
            </a:r>
            <a:endParaRPr sz="800">
              <a:solidFill>
                <a:schemeClr val="dk2"/>
              </a:solidFill>
            </a:endParaRPr>
          </a:p>
          <a:p>
            <a:pPr marL="0" lvl="0" indent="0" algn="ctr" rtl="0">
              <a:spcBef>
                <a:spcPts val="0"/>
              </a:spcBef>
              <a:spcAft>
                <a:spcPts val="0"/>
              </a:spcAft>
              <a:buNone/>
            </a:pPr>
            <a:r>
              <a:rPr lang="en" sz="800">
                <a:solidFill>
                  <a:schemeClr val="dk2"/>
                </a:solidFill>
              </a:rPr>
              <a:t>Mobile chargers along route</a:t>
            </a:r>
            <a:endParaRPr sz="800">
              <a:solidFill>
                <a:schemeClr val="dk2"/>
              </a:solidFill>
            </a:endParaRPr>
          </a:p>
        </p:txBody>
      </p:sp>
      <p:sp>
        <p:nvSpPr>
          <p:cNvPr id="99" name="Google Shape;99;p17"/>
          <p:cNvSpPr txBox="1"/>
          <p:nvPr/>
        </p:nvSpPr>
        <p:spPr>
          <a:xfrm>
            <a:off x="7543700" y="2047600"/>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7:</a:t>
            </a:r>
            <a:endParaRPr sz="800">
              <a:solidFill>
                <a:schemeClr val="dk2"/>
              </a:solidFill>
            </a:endParaRPr>
          </a:p>
          <a:p>
            <a:pPr marL="0" lvl="0" indent="0" algn="ctr" rtl="0">
              <a:spcBef>
                <a:spcPts val="0"/>
              </a:spcBef>
              <a:spcAft>
                <a:spcPts val="0"/>
              </a:spcAft>
              <a:buNone/>
            </a:pPr>
            <a:r>
              <a:rPr lang="en" sz="800">
                <a:solidFill>
                  <a:schemeClr val="dk2"/>
                </a:solidFill>
              </a:rPr>
              <a:t>Minimum EV charge “reserve” </a:t>
            </a:r>
            <a:endParaRPr sz="800">
              <a:solidFill>
                <a:schemeClr val="dk2"/>
              </a:solidFill>
            </a:endParaRPr>
          </a:p>
        </p:txBody>
      </p:sp>
      <p:sp>
        <p:nvSpPr>
          <p:cNvPr id="100" name="Google Shape;100;p17"/>
          <p:cNvSpPr txBox="1"/>
          <p:nvPr/>
        </p:nvSpPr>
        <p:spPr>
          <a:xfrm>
            <a:off x="7543700" y="2855125"/>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8:</a:t>
            </a:r>
            <a:endParaRPr sz="800">
              <a:solidFill>
                <a:schemeClr val="dk2"/>
              </a:solidFill>
            </a:endParaRPr>
          </a:p>
          <a:p>
            <a:pPr marL="0" lvl="0" indent="0" algn="ctr" rtl="0">
              <a:spcBef>
                <a:spcPts val="0"/>
              </a:spcBef>
              <a:spcAft>
                <a:spcPts val="0"/>
              </a:spcAft>
              <a:buNone/>
            </a:pPr>
            <a:r>
              <a:rPr lang="en" sz="800">
                <a:solidFill>
                  <a:schemeClr val="dk2"/>
                </a:solidFill>
              </a:rPr>
              <a:t>Bussing/ shuttling people </a:t>
            </a:r>
            <a:endParaRPr sz="800">
              <a:solidFill>
                <a:schemeClr val="dk2"/>
              </a:solidFill>
            </a:endParaRPr>
          </a:p>
        </p:txBody>
      </p:sp>
      <p:sp>
        <p:nvSpPr>
          <p:cNvPr id="101" name="Google Shape;101;p17"/>
          <p:cNvSpPr txBox="1"/>
          <p:nvPr/>
        </p:nvSpPr>
        <p:spPr>
          <a:xfrm>
            <a:off x="7543700" y="3586100"/>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9:</a:t>
            </a:r>
            <a:endParaRPr sz="800">
              <a:solidFill>
                <a:schemeClr val="dk2"/>
              </a:solidFill>
            </a:endParaRPr>
          </a:p>
          <a:p>
            <a:pPr marL="0" lvl="0" indent="0" algn="ctr" rtl="0">
              <a:spcBef>
                <a:spcPts val="0"/>
              </a:spcBef>
              <a:spcAft>
                <a:spcPts val="0"/>
              </a:spcAft>
              <a:buNone/>
            </a:pPr>
            <a:r>
              <a:rPr lang="en" sz="800">
                <a:solidFill>
                  <a:schemeClr val="dk2"/>
                </a:solidFill>
              </a:rPr>
              <a:t>Staggered departures </a:t>
            </a:r>
            <a:endParaRPr sz="800">
              <a:solidFill>
                <a:schemeClr val="dk2"/>
              </a:solidFill>
            </a:endParaRPr>
          </a:p>
        </p:txBody>
      </p:sp>
      <p:sp>
        <p:nvSpPr>
          <p:cNvPr id="102" name="Google Shape;102;p17"/>
          <p:cNvSpPr txBox="1"/>
          <p:nvPr/>
        </p:nvSpPr>
        <p:spPr>
          <a:xfrm>
            <a:off x="7543700" y="4375375"/>
            <a:ext cx="807000" cy="628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2"/>
                </a:solidFill>
              </a:rPr>
              <a:t>Strategy 10:</a:t>
            </a:r>
            <a:endParaRPr sz="800">
              <a:solidFill>
                <a:schemeClr val="dk2"/>
              </a:solidFill>
            </a:endParaRPr>
          </a:p>
          <a:p>
            <a:pPr marL="0" lvl="0" indent="0" algn="ctr" rtl="0">
              <a:spcBef>
                <a:spcPts val="0"/>
              </a:spcBef>
              <a:spcAft>
                <a:spcPts val="0"/>
              </a:spcAft>
              <a:buNone/>
            </a:pPr>
            <a:r>
              <a:rPr lang="en" sz="800">
                <a:solidFill>
                  <a:schemeClr val="dk2"/>
                </a:solidFill>
              </a:rPr>
              <a:t>Minimum grid “spinning reserves”</a:t>
            </a:r>
            <a:endParaRPr sz="800">
              <a:solidFill>
                <a:schemeClr val="dk2"/>
              </a:solidFill>
            </a:endParaRPr>
          </a:p>
        </p:txBody>
      </p:sp>
      <p:sp>
        <p:nvSpPr>
          <p:cNvPr id="103" name="Google Shape;103;p17"/>
          <p:cNvSpPr/>
          <p:nvPr/>
        </p:nvSpPr>
        <p:spPr>
          <a:xfrm>
            <a:off x="3644900" y="4474625"/>
            <a:ext cx="1473300" cy="304800"/>
          </a:xfrm>
          <a:prstGeom prst="rightArrow">
            <a:avLst>
              <a:gd name="adj1" fmla="val 50000"/>
              <a:gd name="adj2" fmla="val 5000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 name="Google Shape;104;p17"/>
          <p:cNvSpPr/>
          <p:nvPr/>
        </p:nvSpPr>
        <p:spPr>
          <a:xfrm rot="10800000">
            <a:off x="892700" y="4474625"/>
            <a:ext cx="1473300" cy="304800"/>
          </a:xfrm>
          <a:prstGeom prst="rightArrow">
            <a:avLst>
              <a:gd name="adj1" fmla="val 50000"/>
              <a:gd name="adj2" fmla="val 50000"/>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 name="Google Shape;105;p17"/>
          <p:cNvSpPr txBox="1"/>
          <p:nvPr/>
        </p:nvSpPr>
        <p:spPr>
          <a:xfrm>
            <a:off x="914400" y="4106325"/>
            <a:ext cx="1473300" cy="30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Less Effective</a:t>
            </a:r>
            <a:endParaRPr sz="1600">
              <a:solidFill>
                <a:schemeClr val="dk2"/>
              </a:solidFill>
            </a:endParaRPr>
          </a:p>
        </p:txBody>
      </p:sp>
      <p:sp>
        <p:nvSpPr>
          <p:cNvPr id="106" name="Google Shape;106;p17"/>
          <p:cNvSpPr txBox="1"/>
          <p:nvPr/>
        </p:nvSpPr>
        <p:spPr>
          <a:xfrm>
            <a:off x="3623200" y="4106325"/>
            <a:ext cx="1628400" cy="30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More Effective</a:t>
            </a:r>
            <a:endParaRPr sz="1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QSort 1 - Reflection Questions</a:t>
            </a:r>
            <a:endParaRPr/>
          </a:p>
        </p:txBody>
      </p:sp>
      <p:sp>
        <p:nvSpPr>
          <p:cNvPr id="112" name="Google Shape;112;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For the two strategies on the far-left (-2) and far-right (+2) of your table, why did you choose those as the least/most effective strategy? Do you have any real-world examples demonstrating your reasoning?</a:t>
            </a:r>
            <a:endParaRPr/>
          </a:p>
          <a:p>
            <a:pPr marL="914400" lvl="1" indent="-317500" algn="l" rtl="0">
              <a:spcBef>
                <a:spcPts val="0"/>
              </a:spcBef>
              <a:spcAft>
                <a:spcPts val="0"/>
              </a:spcAft>
              <a:buClr>
                <a:srgbClr val="1155CC"/>
              </a:buClr>
              <a:buSzPts val="1400"/>
              <a:buChar char="○"/>
            </a:pPr>
            <a:r>
              <a:rPr lang="en">
                <a:solidFill>
                  <a:srgbClr val="1155CC"/>
                </a:solidFill>
              </a:rPr>
              <a:t>[Insert response here]</a:t>
            </a:r>
            <a:endParaRPr>
              <a:solidFill>
                <a:srgbClr val="1155CC"/>
              </a:solidFill>
            </a:endParaRPr>
          </a:p>
          <a:p>
            <a:pPr marL="457200" lvl="0" indent="-342900" algn="l" rtl="0">
              <a:spcBef>
                <a:spcPts val="0"/>
              </a:spcBef>
              <a:spcAft>
                <a:spcPts val="0"/>
              </a:spcAft>
              <a:buSzPts val="1800"/>
              <a:buChar char="●"/>
            </a:pPr>
            <a:r>
              <a:rPr lang="en"/>
              <a:t>Which of the strategies were most difficult to categorize? Why?</a:t>
            </a:r>
            <a:endParaRPr/>
          </a:p>
          <a:p>
            <a:pPr marL="914400" lvl="1" indent="-317500" algn="l" rtl="0">
              <a:spcBef>
                <a:spcPts val="0"/>
              </a:spcBef>
              <a:spcAft>
                <a:spcPts val="0"/>
              </a:spcAft>
              <a:buSzPts val="1400"/>
              <a:buChar char="○"/>
            </a:pPr>
            <a:r>
              <a:rPr lang="en">
                <a:solidFill>
                  <a:srgbClr val="1155CC"/>
                </a:solidFill>
              </a:rPr>
              <a:t>[Insert response here]</a:t>
            </a:r>
            <a:endParaRPr/>
          </a:p>
          <a:p>
            <a:pPr marL="457200" lvl="0" indent="-342900" algn="l" rtl="0">
              <a:spcBef>
                <a:spcPts val="0"/>
              </a:spcBef>
              <a:spcAft>
                <a:spcPts val="0"/>
              </a:spcAft>
              <a:buSzPts val="1800"/>
              <a:buChar char="●"/>
            </a:pPr>
            <a:r>
              <a:rPr lang="en"/>
              <a:t>What criteria (if any) did you use to sort the strategies? How would you describe/define a “successful” evacuation?</a:t>
            </a:r>
            <a:endParaRPr/>
          </a:p>
          <a:p>
            <a:pPr marL="914400" lvl="1" indent="-317500" algn="l" rtl="0">
              <a:spcBef>
                <a:spcPts val="0"/>
              </a:spcBef>
              <a:spcAft>
                <a:spcPts val="0"/>
              </a:spcAft>
              <a:buSzPts val="1400"/>
              <a:buChar char="○"/>
            </a:pPr>
            <a:r>
              <a:rPr lang="en">
                <a:solidFill>
                  <a:srgbClr val="1155CC"/>
                </a:solidFill>
              </a:rPr>
              <a:t>[Insert response here]</a:t>
            </a:r>
            <a:endParaRPr/>
          </a:p>
          <a:p>
            <a:pPr marL="457200" lvl="0" indent="-342900" algn="l" rtl="0">
              <a:spcBef>
                <a:spcPts val="0"/>
              </a:spcBef>
              <a:spcAft>
                <a:spcPts val="0"/>
              </a:spcAft>
              <a:buSzPts val="1800"/>
              <a:buChar char="●"/>
            </a:pPr>
            <a:r>
              <a:rPr lang="en"/>
              <a:t>Are there any additional strategies/policies not included in this exercise that you think might be relevant or helpful for ZEV evacuations?</a:t>
            </a:r>
            <a:endParaRPr/>
          </a:p>
          <a:p>
            <a:pPr marL="914400" lvl="1" indent="-317500" algn="l" rtl="0">
              <a:spcBef>
                <a:spcPts val="0"/>
              </a:spcBef>
              <a:spcAft>
                <a:spcPts val="0"/>
              </a:spcAft>
              <a:buSzPts val="1400"/>
              <a:buChar char="○"/>
            </a:pPr>
            <a:r>
              <a:rPr lang="en">
                <a:solidFill>
                  <a:srgbClr val="1155CC"/>
                </a:solidFill>
              </a:rPr>
              <a:t>[Insert response here]</a:t>
            </a:r>
            <a:endParaRPr/>
          </a:p>
        </p:txBody>
      </p:sp>
      <p:sp>
        <p:nvSpPr>
          <p:cNvPr id="113" name="Google Shape;113;p18"/>
          <p:cNvSpPr txBox="1"/>
          <p:nvPr/>
        </p:nvSpPr>
        <p:spPr>
          <a:xfrm>
            <a:off x="1728450" y="4703625"/>
            <a:ext cx="5687100" cy="27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{If needed, additional space is available on next slide}</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Additional space for response QSort 1 reflection questions</a:t>
            </a:r>
            <a:endParaRPr/>
          </a:p>
        </p:txBody>
      </p:sp>
      <p:sp>
        <p:nvSpPr>
          <p:cNvPr id="119" name="Google Shape;119;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cd0a6f3-6861-49ba-94f2-f3f78dd4ae63">
      <Terms xmlns="http://schemas.microsoft.com/office/infopath/2007/PartnerControls"/>
    </lcf76f155ced4ddcb4097134ff3c332f>
    <TaxCatchAll xmlns="769c9d07-5fea-4c5b-a63a-e12281ded9f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0A2DA7558C4D0409FB7D79D43C63046" ma:contentTypeVersion="13" ma:contentTypeDescription="Create a new document." ma:contentTypeScope="" ma:versionID="2c61fd8a38f3cf51bd29dd5fee07c671">
  <xsd:schema xmlns:xsd="http://www.w3.org/2001/XMLSchema" xmlns:xs="http://www.w3.org/2001/XMLSchema" xmlns:p="http://schemas.microsoft.com/office/2006/metadata/properties" xmlns:ns2="dcd0a6f3-6861-49ba-94f2-f3f78dd4ae63" xmlns:ns3="769c9d07-5fea-4c5b-a63a-e12281ded9ff" targetNamespace="http://schemas.microsoft.com/office/2006/metadata/properties" ma:root="true" ma:fieldsID="55e341d7429e12afa573a350a1acd81e" ns2:_="" ns3:_="">
    <xsd:import namespace="dcd0a6f3-6861-49ba-94f2-f3f78dd4ae63"/>
    <xsd:import namespace="769c9d07-5fea-4c5b-a63a-e12281ded9f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d0a6f3-6861-49ba-94f2-f3f78dd4a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3b8da89-66ce-4411-8b7f-88984b48a17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69c9d07-5fea-4c5b-a63a-e12281ded9f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f0347d7-a57c-496f-a719-6a72763059d5}" ma:internalName="TaxCatchAll" ma:showField="CatchAllData" ma:web="769c9d07-5fea-4c5b-a63a-e12281ded9ff">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3AD3DC-129B-473F-BF24-9324CE0F84C9}">
  <ds:schemaRefs>
    <ds:schemaRef ds:uri="http://schemas.microsoft.com/office/2006/metadata/properties"/>
    <ds:schemaRef ds:uri="http://schemas.microsoft.com/office/infopath/2007/PartnerControls"/>
    <ds:schemaRef ds:uri="dcd0a6f3-6861-49ba-94f2-f3f78dd4ae63"/>
    <ds:schemaRef ds:uri="769c9d07-5fea-4c5b-a63a-e12281ded9ff"/>
  </ds:schemaRefs>
</ds:datastoreItem>
</file>

<file path=customXml/itemProps2.xml><?xml version="1.0" encoding="utf-8"?>
<ds:datastoreItem xmlns:ds="http://schemas.openxmlformats.org/officeDocument/2006/customXml" ds:itemID="{E7FF2F2A-9CEA-4E74-902E-8600E0339758}">
  <ds:schemaRefs>
    <ds:schemaRef ds:uri="http://schemas.microsoft.com/sharepoint/v3/contenttype/forms"/>
  </ds:schemaRefs>
</ds:datastoreItem>
</file>

<file path=customXml/itemProps3.xml><?xml version="1.0" encoding="utf-8"?>
<ds:datastoreItem xmlns:ds="http://schemas.openxmlformats.org/officeDocument/2006/customXml" ds:itemID="{562F86F4-A789-4A68-83B2-B758CB1ED832}"/>
</file>

<file path=docProps/app.xml><?xml version="1.0" encoding="utf-8"?>
<Properties xmlns="http://schemas.openxmlformats.org/officeDocument/2006/extended-properties" xmlns:vt="http://schemas.openxmlformats.org/officeDocument/2006/docPropsVTypes">
  <TotalTime>0</TotalTime>
  <Words>794</Words>
  <Application>Microsoft Office PowerPoint</Application>
  <PresentationFormat>On-screen Show (16:9)</PresentationFormat>
  <Paragraphs>88</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Simple Light</vt:lpstr>
      <vt:lpstr>QSort Activity: Gauging perspectives on the effectiveness and feasible of different policies/strategies for supporting EV evacuation during extreme events</vt:lpstr>
      <vt:lpstr>INTRODUCE YOUR NAME HERE</vt:lpstr>
      <vt:lpstr>Summary Table of Strategies</vt:lpstr>
      <vt:lpstr>Summary Table of Strategies (Continued)</vt:lpstr>
      <vt:lpstr>QSort 1: Which strategies/policies do you feel will be most/least effective at supporting evacuation of EVs during an extreme event?</vt:lpstr>
      <vt:lpstr>QSort 1 - Reflection Questions</vt:lpstr>
      <vt:lpstr>Additional space for response QSort 1 reflection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Ricardo de Castro</cp:lastModifiedBy>
  <cp:revision>2</cp:revision>
  <dcterms:modified xsi:type="dcterms:W3CDTF">2024-12-08T00:09:13Z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0x010100B0A2DA7558C4D0409FB7D79D43C63046</vt:lpwstr>
  </property>
</Properties>
</file>