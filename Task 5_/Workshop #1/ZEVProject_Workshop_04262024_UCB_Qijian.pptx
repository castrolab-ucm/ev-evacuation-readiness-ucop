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61" r:id="rId6"/>
    <p:sldId id="264" r:id="rId7"/>
    <p:sldId id="265" r:id="rId8"/>
    <p:sldId id="262" r:id="rId9"/>
    <p:sldId id="266" r:id="rId10"/>
    <p:sldId id="267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A630"/>
    <a:srgbClr val="1423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56F429-26BF-4536-9BE2-A4FBE0315597}" v="1" dt="2024-04-22T18:13:04.442"/>
    <p1510:client id="{45B81D5E-0B1D-49A9-EF04-00F648E63DD0}" v="27" dt="2024-04-23T01:14:21.964"/>
    <p1510:client id="{A4D0B4A4-87F3-8409-A9A9-559DF8DAF369}" v="10" dt="2024-04-23T01:15:35.8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28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8D2A3A-B8C6-4B6A-8E95-CAA5B55AA403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392A10-7965-4770-93D8-67A01613B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536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0" descr="UC Davis Wordmark">
            <a:extLst>
              <a:ext uri="{FF2B5EF4-FFF2-40B4-BE49-F238E27FC236}">
                <a16:creationId xmlns:a16="http://schemas.microsoft.com/office/drawing/2014/main" id="{652A139B-E49E-6760-8E9E-E09AD7F134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5472" y="6361994"/>
            <a:ext cx="1513360" cy="260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FA354656-851D-0D4A-A57F-198B7D2B7D9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847" y="6353609"/>
            <a:ext cx="1444443" cy="297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 descr="uc merced logo text">
            <a:extLst>
              <a:ext uri="{FF2B5EF4-FFF2-40B4-BE49-F238E27FC236}">
                <a16:creationId xmlns:a16="http://schemas.microsoft.com/office/drawing/2014/main" id="{1DDD83A9-73C1-4631-1E10-5CECC15F2E2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40" y="6368047"/>
            <a:ext cx="1138017" cy="26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Image of the UC Berkeley logo with examples of primary usage">
            <a:extLst>
              <a:ext uri="{FF2B5EF4-FFF2-40B4-BE49-F238E27FC236}">
                <a16:creationId xmlns:a16="http://schemas.microsoft.com/office/drawing/2014/main" id="{F1F00ECE-3161-647C-6C49-26B9A5AE703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42" t="56636" r="33517" b="32590"/>
          <a:stretch/>
        </p:blipFill>
        <p:spPr bwMode="auto">
          <a:xfrm>
            <a:off x="5421972" y="6266352"/>
            <a:ext cx="1138017" cy="483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DE938E-624A-23E8-BE64-291FCA704F5E}"/>
              </a:ext>
            </a:extLst>
          </p:cNvPr>
          <p:cNvCxnSpPr>
            <a:cxnSpLocks/>
          </p:cNvCxnSpPr>
          <p:nvPr userDrawn="1"/>
        </p:nvCxnSpPr>
        <p:spPr>
          <a:xfrm>
            <a:off x="371192" y="6201624"/>
            <a:ext cx="116144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985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UC Davis Wordmark">
            <a:extLst>
              <a:ext uri="{FF2B5EF4-FFF2-40B4-BE49-F238E27FC236}">
                <a16:creationId xmlns:a16="http://schemas.microsoft.com/office/drawing/2014/main" id="{89C3DA10-B7D9-7D62-5D22-87140E9D7F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5472" y="6361994"/>
            <a:ext cx="1513360" cy="260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05990A80-69B7-6D8B-987D-4CEB5DF74DF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847" y="6353609"/>
            <a:ext cx="1444443" cy="297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2" descr="uc merced logo text">
            <a:extLst>
              <a:ext uri="{FF2B5EF4-FFF2-40B4-BE49-F238E27FC236}">
                <a16:creationId xmlns:a16="http://schemas.microsoft.com/office/drawing/2014/main" id="{B1268987-0C37-4701-5F55-5237D887759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40" y="6368047"/>
            <a:ext cx="1138017" cy="26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Image of the UC Berkeley logo with examples of primary usage">
            <a:extLst>
              <a:ext uri="{FF2B5EF4-FFF2-40B4-BE49-F238E27FC236}">
                <a16:creationId xmlns:a16="http://schemas.microsoft.com/office/drawing/2014/main" id="{530B414A-AD12-5BC1-BBE3-57E43CAEB81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42" t="56636" r="33517" b="32590"/>
          <a:stretch/>
        </p:blipFill>
        <p:spPr bwMode="auto">
          <a:xfrm>
            <a:off x="5421972" y="6266352"/>
            <a:ext cx="1138017" cy="483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C6287B-3AD5-BC88-D649-7CD14FEE56F1}"/>
              </a:ext>
            </a:extLst>
          </p:cNvPr>
          <p:cNvCxnSpPr>
            <a:cxnSpLocks/>
          </p:cNvCxnSpPr>
          <p:nvPr userDrawn="1"/>
        </p:nvCxnSpPr>
        <p:spPr>
          <a:xfrm>
            <a:off x="606440" y="6201624"/>
            <a:ext cx="113792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05C28263-29F9-7E9B-E4AD-B157596D5F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85720" y="6368007"/>
            <a:ext cx="12999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AEBCD9-C27D-4CBD-88F4-08B4D3A2CDB0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70FA772-5DC9-E3A2-053A-7CFBAF93C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7250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509AB68-8158-D6F4-D504-25FAC75366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637415"/>
            <a:ext cx="10515600" cy="39982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6874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1861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4317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1C7E7F-92A3-F69B-5FCB-72F93C71C7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4877" y="10945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AEBCD9-C27D-4CBD-88F4-08B4D3A2C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393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pems.dot.ca.gov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ems.dot.ca.gov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5901A9-604F-29C5-750A-E48BA76F5133}"/>
              </a:ext>
            </a:extLst>
          </p:cNvPr>
          <p:cNvSpPr txBox="1"/>
          <p:nvPr/>
        </p:nvSpPr>
        <p:spPr>
          <a:xfrm>
            <a:off x="1074946" y="946324"/>
            <a:ext cx="103367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Improving Preparedness of Communities for Evacuations using ZEVs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8EA691-C850-9718-6047-895D5136B286}"/>
              </a:ext>
            </a:extLst>
          </p:cNvPr>
          <p:cNvSpPr txBox="1"/>
          <p:nvPr/>
        </p:nvSpPr>
        <p:spPr>
          <a:xfrm>
            <a:off x="1621773" y="2584448"/>
            <a:ext cx="9871870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3200" dirty="0"/>
              <a:t>Definition of use cases for Merced/Mariposa evacuations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69AC20-EDA7-EE64-C422-94B255440B36}"/>
              </a:ext>
            </a:extLst>
          </p:cNvPr>
          <p:cNvSpPr txBox="1"/>
          <p:nvPr/>
        </p:nvSpPr>
        <p:spPr>
          <a:xfrm>
            <a:off x="3375350" y="3782113"/>
            <a:ext cx="5448351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2800" b="1" i="1" u="sng" dirty="0"/>
              <a:t>Presenter: Qijian Gan (UC Berkeley)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62DF44-89BB-BE5A-33EA-AE46B0BEBAF1}"/>
              </a:ext>
            </a:extLst>
          </p:cNvPr>
          <p:cNvSpPr txBox="1"/>
          <p:nvPr/>
        </p:nvSpPr>
        <p:spPr>
          <a:xfrm>
            <a:off x="5194805" y="4918223"/>
            <a:ext cx="20970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April 26</a:t>
            </a:r>
            <a:r>
              <a:rPr lang="en-US" sz="2400" baseline="30000" dirty="0"/>
              <a:t>th</a:t>
            </a:r>
            <a:r>
              <a:rPr lang="en-US" sz="2400" dirty="0"/>
              <a:t>, 2024</a:t>
            </a:r>
          </a:p>
        </p:txBody>
      </p:sp>
    </p:spTree>
    <p:extLst>
      <p:ext uri="{BB962C8B-B14F-4D97-AF65-F5344CB8AC3E}">
        <p14:creationId xmlns:p14="http://schemas.microsoft.com/office/powerpoint/2010/main" val="1544087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33CFED-F3AF-554C-D99A-7769C883B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9BBA44-FC35-F33C-B222-3068C1821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0371A-A880-3C8E-B2E3-96293347A2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637415"/>
            <a:ext cx="10709635" cy="3998210"/>
          </a:xfrm>
        </p:spPr>
        <p:txBody>
          <a:bodyPr/>
          <a:lstStyle/>
          <a:p>
            <a:r>
              <a:rPr lang="en-US" dirty="0"/>
              <a:t>Due to the rapid increase of ZEV ownership in recent years, rural areas like in Mariposa are facing a big challenge in the evacuation using ZEVs.</a:t>
            </a:r>
          </a:p>
          <a:p>
            <a:pPr lvl="1"/>
            <a:r>
              <a:rPr lang="en-US" dirty="0"/>
              <a:t>These rural areas normally lack charging facilities to support mass evacuations using ZEVs.</a:t>
            </a:r>
          </a:p>
          <a:p>
            <a:pPr lvl="1"/>
            <a:r>
              <a:rPr lang="en-US" dirty="0"/>
              <a:t>The transportation networks are vulnerable to support mass evacuations. </a:t>
            </a:r>
          </a:p>
          <a:p>
            <a:pPr lvl="2"/>
            <a:r>
              <a:rPr lang="en-US" dirty="0"/>
              <a:t>Very limited routes to nearby cities.</a:t>
            </a:r>
          </a:p>
          <a:p>
            <a:pPr lvl="2"/>
            <a:r>
              <a:rPr lang="en-US" dirty="0"/>
              <a:t>These routes normally consist of state highways that are 2-lane roadways. Therefore, any traffic incident happening on the roadway will significantly degrade the evacuation effectiveness and efficiency. </a:t>
            </a:r>
          </a:p>
          <a:p>
            <a:pPr lvl="2"/>
            <a:r>
              <a:rPr lang="en-US" dirty="0"/>
              <a:t>Changes to traffic control at arterial intersections are needed to support the large volume of vehicles traveling in the dominated direction.</a:t>
            </a:r>
          </a:p>
        </p:txBody>
      </p:sp>
    </p:spTree>
    <p:extLst>
      <p:ext uri="{BB962C8B-B14F-4D97-AF65-F5344CB8AC3E}">
        <p14:creationId xmlns:p14="http://schemas.microsoft.com/office/powerpoint/2010/main" val="4266625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33CFED-F3AF-554C-D99A-7769C883B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9BBA44-FC35-F33C-B222-3068C1821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(cont.)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0371A-A880-3C8E-B2E3-96293347A2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637415"/>
            <a:ext cx="10709635" cy="3998210"/>
          </a:xfrm>
        </p:spPr>
        <p:txBody>
          <a:bodyPr/>
          <a:lstStyle/>
          <a:p>
            <a:r>
              <a:rPr lang="en-US" dirty="0"/>
              <a:t>Once the evacuation plans for ZEVs are developed (normally at the planning/macroscopic level), their performance needs to be evaluated at the operational/microscopic level.</a:t>
            </a:r>
          </a:p>
          <a:p>
            <a:pPr lvl="1"/>
            <a:r>
              <a:rPr lang="en-US" dirty="0"/>
              <a:t>The planning/macroscopic tools may not be able to appropriately capture </a:t>
            </a:r>
          </a:p>
          <a:p>
            <a:pPr lvl="2"/>
            <a:r>
              <a:rPr lang="en-US" dirty="0"/>
              <a:t>Abnormal traffic congestion at arterial intersections due to the factors like excessive left-turn demands and low intersection throughputs (e.g., at stop signs).</a:t>
            </a:r>
          </a:p>
          <a:p>
            <a:pPr lvl="2"/>
            <a:r>
              <a:rPr lang="en-US" dirty="0"/>
              <a:t>The impact of traffic incidents, e.g., reduced throughputs, longer travel delays, road blockages, gridlocks, etc.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924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33CFED-F3AF-554C-D99A-7769C883B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9BBA44-FC35-F33C-B222-3068C1821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0371A-A880-3C8E-B2E3-96293347A2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637414"/>
            <a:ext cx="10709635" cy="4388481"/>
          </a:xfrm>
        </p:spPr>
        <p:txBody>
          <a:bodyPr/>
          <a:lstStyle/>
          <a:p>
            <a:r>
              <a:rPr lang="en-US" dirty="0"/>
              <a:t>In this project, we want to develop a microsimulation platform in </a:t>
            </a:r>
            <a:r>
              <a:rPr lang="en-US" dirty="0" err="1"/>
              <a:t>Aimsun</a:t>
            </a:r>
            <a:r>
              <a:rPr lang="en-US" dirty="0"/>
              <a:t> (https://www.aimsun.com/) to support the evaluation of ZEV evacuation plans in the Merced/Mariposa area, which consists of the following:</a:t>
            </a:r>
          </a:p>
          <a:p>
            <a:pPr lvl="1"/>
            <a:r>
              <a:rPr lang="en-US" dirty="0"/>
              <a:t>A calibrated microsimulation model for the Merced/Mariposa network.</a:t>
            </a:r>
          </a:p>
          <a:p>
            <a:pPr lvl="1"/>
            <a:r>
              <a:rPr lang="en-US" dirty="0"/>
              <a:t>An enhanced simulation platform with novel features to support </a:t>
            </a:r>
          </a:p>
          <a:p>
            <a:pPr lvl="2"/>
            <a:r>
              <a:rPr lang="en-US" dirty="0"/>
              <a:t>The modeling and calculation of EV battery consumption in a more dynamic and realistic environment;</a:t>
            </a:r>
          </a:p>
          <a:p>
            <a:pPr lvl="2"/>
            <a:r>
              <a:rPr lang="en-US" dirty="0"/>
              <a:t>The modeling and management of fixed/mobile charging stations;</a:t>
            </a:r>
          </a:p>
          <a:p>
            <a:pPr lvl="2"/>
            <a:r>
              <a:rPr lang="en-US" dirty="0"/>
              <a:t>The routing of EVs for charging;</a:t>
            </a:r>
          </a:p>
          <a:p>
            <a:pPr lvl="2"/>
            <a:r>
              <a:rPr lang="en-US" dirty="0"/>
              <a:t>The modeling and assessment of evacuation plans (e.g., activation/deactivation of new traffic control along the evacuation routes, vehicle routing, performance measures, etc.)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677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65A53AC-6369-283D-C7F3-A718AA6BB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6914" y="811636"/>
            <a:ext cx="5544838" cy="53472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B28B81-C497-F7E1-555B-8ADC7C0657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A0CE17-85F0-927F-2B2F-E071C4226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Progress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AA96F7-D7E9-D375-0A22-80D8BA3071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637414"/>
            <a:ext cx="5257800" cy="4521421"/>
          </a:xfrm>
        </p:spPr>
        <p:txBody>
          <a:bodyPr/>
          <a:lstStyle/>
          <a:p>
            <a:r>
              <a:rPr lang="en-US" dirty="0"/>
              <a:t>We have created a microsimulation network in the Merced/Mariposa area.</a:t>
            </a:r>
          </a:p>
          <a:p>
            <a:r>
              <a:rPr lang="en-US" dirty="0"/>
              <a:t>While creating the network, </a:t>
            </a:r>
          </a:p>
          <a:p>
            <a:pPr lvl="1"/>
            <a:r>
              <a:rPr lang="en-US" dirty="0"/>
              <a:t>We focused on the scenario of ZEV evacuations from Mariposa to nearby cities (e.g., Merced, Madera, etc.)</a:t>
            </a:r>
          </a:p>
          <a:p>
            <a:pPr lvl="1"/>
            <a:r>
              <a:rPr lang="en-US" dirty="0"/>
              <a:t>We modeled the major arterials inside Mariposa, the state highways, and other 2-lane roadways.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CC993B-F133-9B5B-2DB1-5CAE0B7A7150}"/>
              </a:ext>
            </a:extLst>
          </p:cNvPr>
          <p:cNvSpPr txBox="1"/>
          <p:nvPr/>
        </p:nvSpPr>
        <p:spPr>
          <a:xfrm>
            <a:off x="9348900" y="1062215"/>
            <a:ext cx="1463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Mariposa, CA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A68F84-B10A-3FFE-E8FB-BEDB025E8C8B}"/>
              </a:ext>
            </a:extLst>
          </p:cNvPr>
          <p:cNvSpPr txBox="1"/>
          <p:nvPr/>
        </p:nvSpPr>
        <p:spPr>
          <a:xfrm>
            <a:off x="6722069" y="3052169"/>
            <a:ext cx="1326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Planada, CA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68777B-47EE-93FF-5868-DD308769F19C}"/>
              </a:ext>
            </a:extLst>
          </p:cNvPr>
          <p:cNvSpPr txBox="1"/>
          <p:nvPr/>
        </p:nvSpPr>
        <p:spPr>
          <a:xfrm>
            <a:off x="6096000" y="2638353"/>
            <a:ext cx="1289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Merced, CA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00F6E6-D774-1557-7EF6-454174DC8938}"/>
              </a:ext>
            </a:extLst>
          </p:cNvPr>
          <p:cNvSpPr txBox="1"/>
          <p:nvPr/>
        </p:nvSpPr>
        <p:spPr>
          <a:xfrm>
            <a:off x="6142475" y="1329638"/>
            <a:ext cx="1064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Snelling, CA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D7A105-B7A0-8CA5-9631-1A5DD86D5782}"/>
              </a:ext>
            </a:extLst>
          </p:cNvPr>
          <p:cNvSpPr txBox="1"/>
          <p:nvPr/>
        </p:nvSpPr>
        <p:spPr>
          <a:xfrm>
            <a:off x="6797603" y="4177638"/>
            <a:ext cx="25512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Ave 26 (To Chowchilla, CA)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C74C97-634D-C8AB-E784-112CEEECEA72}"/>
              </a:ext>
            </a:extLst>
          </p:cNvPr>
          <p:cNvSpPr txBox="1"/>
          <p:nvPr/>
        </p:nvSpPr>
        <p:spPr>
          <a:xfrm>
            <a:off x="7271310" y="4618560"/>
            <a:ext cx="25512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Valley Lake Ranchos, CA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5A955D-3B24-64F6-CFA5-9D79BA1D6B8B}"/>
              </a:ext>
            </a:extLst>
          </p:cNvPr>
          <p:cNvSpPr txBox="1"/>
          <p:nvPr/>
        </p:nvSpPr>
        <p:spPr>
          <a:xfrm>
            <a:off x="7042711" y="4860460"/>
            <a:ext cx="26650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Lake Madera Country Estates, CA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9F4E4B-8B47-C9CE-E3B5-B1276ECC4F05}"/>
              </a:ext>
            </a:extLst>
          </p:cNvPr>
          <p:cNvSpPr txBox="1"/>
          <p:nvPr/>
        </p:nvSpPr>
        <p:spPr>
          <a:xfrm>
            <a:off x="8024624" y="5543282"/>
            <a:ext cx="1303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Madera, CA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2F7FFC-C894-752D-0B5F-2AD03E6C62A0}"/>
              </a:ext>
            </a:extLst>
          </p:cNvPr>
          <p:cNvSpPr txBox="1"/>
          <p:nvPr/>
        </p:nvSpPr>
        <p:spPr>
          <a:xfrm>
            <a:off x="9979457" y="5876826"/>
            <a:ext cx="1345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Rolling Hills, CA</a:t>
            </a:r>
          </a:p>
        </p:txBody>
      </p:sp>
    </p:spTree>
    <p:extLst>
      <p:ext uri="{BB962C8B-B14F-4D97-AF65-F5344CB8AC3E}">
        <p14:creationId xmlns:p14="http://schemas.microsoft.com/office/powerpoint/2010/main" val="624645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B28B81-C497-F7E1-555B-8ADC7C0657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A0CE17-85F0-927F-2B2F-E071C4226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Progress (cont.)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AA96F7-D7E9-D375-0A22-80D8BA3071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637414"/>
            <a:ext cx="11002347" cy="4521421"/>
          </a:xfrm>
        </p:spPr>
        <p:txBody>
          <a:bodyPr/>
          <a:lstStyle/>
          <a:p>
            <a:r>
              <a:rPr lang="en-US" dirty="0"/>
              <a:t>We are in the process of calibrating this microsimulation model.  	</a:t>
            </a:r>
          </a:p>
          <a:p>
            <a:r>
              <a:rPr lang="en-US" dirty="0"/>
              <a:t>We need your support if you happen to have or know how to get the following types of data for the study site:</a:t>
            </a:r>
          </a:p>
          <a:p>
            <a:pPr lvl="1"/>
            <a:r>
              <a:rPr lang="en-US" dirty="0"/>
              <a:t>Travel demand models (for Origin-Destination demands)</a:t>
            </a:r>
          </a:p>
          <a:p>
            <a:pPr lvl="1"/>
            <a:r>
              <a:rPr lang="en-US" dirty="0"/>
              <a:t>Timing sheets and traffic counts (or the Synchro model) at the signalized intersections</a:t>
            </a:r>
          </a:p>
          <a:p>
            <a:pPr lvl="1"/>
            <a:r>
              <a:rPr lang="en-US" dirty="0"/>
              <a:t>Traffic counts (or even the AADT) along the state highways and the 2-lane roadways (we might be able to get some data from the </a:t>
            </a:r>
            <a:r>
              <a:rPr lang="en-US" dirty="0" err="1"/>
              <a:t>PeMS</a:t>
            </a:r>
            <a:r>
              <a:rPr lang="en-US" dirty="0"/>
              <a:t> system)</a:t>
            </a:r>
          </a:p>
          <a:p>
            <a:pPr lvl="1"/>
            <a:r>
              <a:rPr lang="en-US" dirty="0"/>
              <a:t>Other data like probe travel times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189650-E287-DEFE-3C9B-672CDD144433}"/>
              </a:ext>
            </a:extLst>
          </p:cNvPr>
          <p:cNvSpPr txBox="1"/>
          <p:nvPr/>
        </p:nvSpPr>
        <p:spPr>
          <a:xfrm>
            <a:off x="6825250" y="6169708"/>
            <a:ext cx="46504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AADT: Annual Average Daily Traffic</a:t>
            </a:r>
          </a:p>
          <a:p>
            <a:r>
              <a:rPr lang="en-US" sz="1200" dirty="0" err="1"/>
              <a:t>PeMS</a:t>
            </a:r>
            <a:r>
              <a:rPr lang="en-US" sz="1200" dirty="0"/>
              <a:t>: </a:t>
            </a:r>
            <a:r>
              <a:rPr lang="en-US" sz="1200" dirty="0">
                <a:hlinkClick r:id="rId2"/>
              </a:rPr>
              <a:t>https://pems.dot.ca.gov/</a:t>
            </a:r>
            <a:endParaRPr lang="en-US" sz="1200" dirty="0"/>
          </a:p>
          <a:p>
            <a:r>
              <a:rPr lang="en-US" sz="1200" dirty="0"/>
              <a:t>Synchro: https://www.cubic.com/transportation/synchro-studio</a:t>
            </a:r>
          </a:p>
        </p:txBody>
      </p:sp>
    </p:spTree>
    <p:extLst>
      <p:ext uri="{BB962C8B-B14F-4D97-AF65-F5344CB8AC3E}">
        <p14:creationId xmlns:p14="http://schemas.microsoft.com/office/powerpoint/2010/main" val="921547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B28B81-C497-F7E1-555B-8ADC7C0657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A0CE17-85F0-927F-2B2F-E071C4226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Progress (cont.)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AA96F7-D7E9-D375-0A22-80D8BA3071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637414"/>
            <a:ext cx="11002347" cy="4521421"/>
          </a:xfrm>
        </p:spPr>
        <p:txBody>
          <a:bodyPr/>
          <a:lstStyle/>
          <a:p>
            <a:r>
              <a:rPr lang="en-US" dirty="0"/>
              <a:t>Meanwhile, we have finished the architecture design for the modeling of EV charging at fixed/mobile charging stations in </a:t>
            </a:r>
            <a:r>
              <a:rPr lang="en-US" dirty="0" err="1"/>
              <a:t>Aimsun</a:t>
            </a:r>
            <a:r>
              <a:rPr lang="en-US" dirty="0"/>
              <a:t>.</a:t>
            </a:r>
          </a:p>
          <a:p>
            <a:r>
              <a:rPr lang="en-US" dirty="0"/>
              <a:t>We are currently implementing the required data structures and workflows.</a:t>
            </a:r>
          </a:p>
          <a:p>
            <a:r>
              <a:rPr lang="en-US" dirty="0"/>
              <a:t>We hope to show this enhanced simulation platform in our next workshop.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189650-E287-DEFE-3C9B-672CDD144433}"/>
              </a:ext>
            </a:extLst>
          </p:cNvPr>
          <p:cNvSpPr txBox="1"/>
          <p:nvPr/>
        </p:nvSpPr>
        <p:spPr>
          <a:xfrm>
            <a:off x="6825250" y="6169708"/>
            <a:ext cx="46504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AADT: Annual Average Daily Traffic</a:t>
            </a:r>
          </a:p>
          <a:p>
            <a:r>
              <a:rPr lang="en-US" sz="1200" dirty="0" err="1"/>
              <a:t>PeMS</a:t>
            </a:r>
            <a:r>
              <a:rPr lang="en-US" sz="1200" dirty="0"/>
              <a:t>: </a:t>
            </a:r>
            <a:r>
              <a:rPr lang="en-US" sz="1200" dirty="0">
                <a:hlinkClick r:id="rId2"/>
              </a:rPr>
              <a:t>https://pems.dot.ca.gov/</a:t>
            </a:r>
            <a:endParaRPr lang="en-US" sz="1200" dirty="0"/>
          </a:p>
          <a:p>
            <a:r>
              <a:rPr lang="en-US" sz="1200" dirty="0"/>
              <a:t>Synchro: https://www.cubic.com/transportation/synchro-studio</a:t>
            </a:r>
          </a:p>
        </p:txBody>
      </p:sp>
    </p:spTree>
    <p:extLst>
      <p:ext uri="{BB962C8B-B14F-4D97-AF65-F5344CB8AC3E}">
        <p14:creationId xmlns:p14="http://schemas.microsoft.com/office/powerpoint/2010/main" val="2830560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8CEBC2-6543-354F-BEBD-966B089B6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6C1714-FA2E-6228-22DA-9D1A28EB4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616" y="2925446"/>
            <a:ext cx="10515600" cy="857250"/>
          </a:xfrm>
        </p:spPr>
        <p:txBody>
          <a:bodyPr/>
          <a:lstStyle/>
          <a:p>
            <a:pPr algn="ctr"/>
            <a:r>
              <a:rPr lang="en-US" sz="5400" dirty="0"/>
              <a:t>Q&amp;A?</a:t>
            </a:r>
          </a:p>
        </p:txBody>
      </p:sp>
    </p:spTree>
    <p:extLst>
      <p:ext uri="{BB962C8B-B14F-4D97-AF65-F5344CB8AC3E}">
        <p14:creationId xmlns:p14="http://schemas.microsoft.com/office/powerpoint/2010/main" val="2671382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cd0a6f3-6861-49ba-94f2-f3f78dd4ae63">
      <Terms xmlns="http://schemas.microsoft.com/office/infopath/2007/PartnerControls"/>
    </lcf76f155ced4ddcb4097134ff3c332f>
    <TaxCatchAll xmlns="769c9d07-5fea-4c5b-a63a-e12281ded9f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A2DA7558C4D0409FB7D79D43C63046" ma:contentTypeVersion="12" ma:contentTypeDescription="Create a new document." ma:contentTypeScope="" ma:versionID="bc548b5e81a97cb0268c7cd411c5fa33">
  <xsd:schema xmlns:xsd="http://www.w3.org/2001/XMLSchema" xmlns:xs="http://www.w3.org/2001/XMLSchema" xmlns:p="http://schemas.microsoft.com/office/2006/metadata/properties" xmlns:ns2="dcd0a6f3-6861-49ba-94f2-f3f78dd4ae63" xmlns:ns3="769c9d07-5fea-4c5b-a63a-e12281ded9ff" targetNamespace="http://schemas.microsoft.com/office/2006/metadata/properties" ma:root="true" ma:fieldsID="07b9255c7b74f342168d7fc2dd50908f" ns2:_="" ns3:_="">
    <xsd:import namespace="dcd0a6f3-6861-49ba-94f2-f3f78dd4ae63"/>
    <xsd:import namespace="769c9d07-5fea-4c5b-a63a-e12281ded9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d0a6f3-6861-49ba-94f2-f3f78dd4ae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3b8da89-66ce-4411-8b7f-88984b48a1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9c9d07-5fea-4c5b-a63a-e12281ded9f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f0347d7-a57c-496f-a719-6a72763059d5}" ma:internalName="TaxCatchAll" ma:showField="CatchAllData" ma:web="769c9d07-5fea-4c5b-a63a-e12281ded9f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61C6300-AE9A-417C-B4C2-6445F73C93B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827447-3D29-4F40-AC5C-37E8C0983C8F}">
  <ds:schemaRefs>
    <ds:schemaRef ds:uri="769c9d07-5fea-4c5b-a63a-e12281ded9ff"/>
    <ds:schemaRef ds:uri="dcd0a6f3-6861-49ba-94f2-f3f78dd4ae63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8CA36200-1E0B-4BAE-A6E2-F02B32F2B4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d0a6f3-6861-49ba-94f2-f3f78dd4ae63"/>
    <ds:schemaRef ds:uri="769c9d07-5fea-4c5b-a63a-e12281ded9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696</Words>
  <Application>Microsoft Office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Problem Statement</vt:lpstr>
      <vt:lpstr>Problem Statement (cont.)</vt:lpstr>
      <vt:lpstr>Proposed Solution</vt:lpstr>
      <vt:lpstr>Current Progress</vt:lpstr>
      <vt:lpstr>Current Progress (cont.)</vt:lpstr>
      <vt:lpstr>Current Progress (cont.)</vt:lpstr>
      <vt:lpstr>Q&amp;A?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Liz Lippincott</dc:creator>
  <cp:lastModifiedBy>Qijian Gan</cp:lastModifiedBy>
  <cp:revision>72</cp:revision>
  <dcterms:created xsi:type="dcterms:W3CDTF">2022-06-28T19:00:38Z</dcterms:created>
  <dcterms:modified xsi:type="dcterms:W3CDTF">2024-04-26T17:55:23Z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0x010100B0A2DA7558C4D0409FB7D79D43C63046</vt:lpwstr>
  </property>
  <property fmtid="{D5CDD505-2E9C-101B-9397-08002B2CF9AE}" pid="3" name="MediaServiceImageTags">
    <vt:lpwstr/>
  </property>
</Properties>
</file>