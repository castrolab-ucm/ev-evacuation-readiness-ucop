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69" r:id="rId6"/>
    <p:sldId id="271" r:id="rId7"/>
    <p:sldId id="272" r:id="rId8"/>
    <p:sldId id="261" r:id="rId9"/>
    <p:sldId id="264" r:id="rId10"/>
    <p:sldId id="276" r:id="rId11"/>
    <p:sldId id="299" r:id="rId12"/>
    <p:sldId id="300" r:id="rId13"/>
    <p:sldId id="279" r:id="rId14"/>
    <p:sldId id="280" r:id="rId15"/>
    <p:sldId id="282" r:id="rId16"/>
    <p:sldId id="268" r:id="rId17"/>
    <p:sldId id="281" r:id="rId18"/>
    <p:sldId id="275" r:id="rId19"/>
    <p:sldId id="273" r:id="rId20"/>
    <p:sldId id="298" r:id="rId21"/>
    <p:sldId id="295" r:id="rId22"/>
    <p:sldId id="277" r:id="rId23"/>
    <p:sldId id="283" r:id="rId24"/>
    <p:sldId id="297" r:id="rId2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630"/>
    <a:srgbClr val="142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FBC348-EDA4-2669-7F32-53BE4EA49639}" v="2" dt="2024-06-18T02:06:46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28"/>
  </p:normalViewPr>
  <p:slideViewPr>
    <p:cSldViewPr snapToGrid="0" snapToObjects="1">
      <p:cViewPr varScale="1">
        <p:scale>
          <a:sx n="82" d="100"/>
          <a:sy n="82" d="100"/>
        </p:scale>
        <p:origin x="8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zan ZareAfifi" userId="S::fzareafifi@ucmerced.edu::b21fc74c-c7bd-4cd1-8d81-b7c39e8ff515" providerId="AD" clId="Web-{86FBC348-EDA4-2669-7F32-53BE4EA49639}"/>
    <pc:docChg chg="modSld">
      <pc:chgData name="Farzan ZareAfifi" userId="S::fzareafifi@ucmerced.edu::b21fc74c-c7bd-4cd1-8d81-b7c39e8ff515" providerId="AD" clId="Web-{86FBC348-EDA4-2669-7F32-53BE4EA49639}" dt="2024-06-18T02:06:46.372" v="1" actId="1076"/>
      <pc:docMkLst>
        <pc:docMk/>
      </pc:docMkLst>
      <pc:sldChg chg="modSp">
        <pc:chgData name="Farzan ZareAfifi" userId="S::fzareafifi@ucmerced.edu::b21fc74c-c7bd-4cd1-8d81-b7c39e8ff515" providerId="AD" clId="Web-{86FBC348-EDA4-2669-7F32-53BE4EA49639}" dt="2024-06-18T02:06:46.372" v="1" actId="1076"/>
        <pc:sldMkLst>
          <pc:docMk/>
          <pc:sldMk cId="2071142841" sldId="299"/>
        </pc:sldMkLst>
        <pc:spChg chg="mod">
          <ac:chgData name="Farzan ZareAfifi" userId="S::fzareafifi@ucmerced.edu::b21fc74c-c7bd-4cd1-8d81-b7c39e8ff515" providerId="AD" clId="Web-{86FBC348-EDA4-2669-7F32-53BE4EA49639}" dt="2024-06-18T02:06:46.372" v="1" actId="1076"/>
          <ac:spMkLst>
            <pc:docMk/>
            <pc:sldMk cId="2071142841" sldId="299"/>
            <ac:spMk id="16" creationId="{E46C2760-F0CF-510D-76A0-C9CB9FFD9804}"/>
          </ac:spMkLst>
        </pc:spChg>
        <pc:spChg chg="mod">
          <ac:chgData name="Farzan ZareAfifi" userId="S::fzareafifi@ucmerced.edu::b21fc74c-c7bd-4cd1-8d81-b7c39e8ff515" providerId="AD" clId="Web-{86FBC348-EDA4-2669-7F32-53BE4EA49639}" dt="2024-06-18T02:06:40.403" v="0" actId="1076"/>
          <ac:spMkLst>
            <pc:docMk/>
            <pc:sldMk cId="2071142841" sldId="299"/>
            <ac:spMk id="19" creationId="{F2642FB1-AD97-A3E5-AE15-4932441217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78D2A3A-B8C6-4B6A-8E95-CAA5B55AA403}" type="datetimeFigureOut">
              <a:rPr lang="en-US" smtClean="0"/>
              <a:t>6/17/2024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392A10-7965-4770-93D8-67A01613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53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92A10-7965-4770-93D8-67A01613BD5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66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UC Davis Wordmark">
            <a:extLst>
              <a:ext uri="{FF2B5EF4-FFF2-40B4-BE49-F238E27FC236}">
                <a16:creationId xmlns:a16="http://schemas.microsoft.com/office/drawing/2014/main" id="{652A139B-E49E-6760-8E9E-E09AD7F134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72" y="6361994"/>
            <a:ext cx="1513360" cy="26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A354656-851D-0D4A-A57F-198B7D2B7D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847" y="6353609"/>
            <a:ext cx="1444443" cy="29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uc merced logo text">
            <a:extLst>
              <a:ext uri="{FF2B5EF4-FFF2-40B4-BE49-F238E27FC236}">
                <a16:creationId xmlns:a16="http://schemas.microsoft.com/office/drawing/2014/main" id="{1DDD83A9-73C1-4631-1E10-5CECC15F2E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0" y="6368047"/>
            <a:ext cx="1138017" cy="2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 of the UC Berkeley logo with examples of primary usage">
            <a:extLst>
              <a:ext uri="{FF2B5EF4-FFF2-40B4-BE49-F238E27FC236}">
                <a16:creationId xmlns:a16="http://schemas.microsoft.com/office/drawing/2014/main" id="{F1F00ECE-3161-647C-6C49-26B9A5AE703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2" t="56636" r="33517" b="32590"/>
          <a:stretch/>
        </p:blipFill>
        <p:spPr bwMode="auto">
          <a:xfrm>
            <a:off x="5421972" y="6266352"/>
            <a:ext cx="1138017" cy="48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DE938E-624A-23E8-BE64-291FCA704F5E}"/>
              </a:ext>
            </a:extLst>
          </p:cNvPr>
          <p:cNvCxnSpPr>
            <a:cxnSpLocks/>
          </p:cNvCxnSpPr>
          <p:nvPr userDrawn="1"/>
        </p:nvCxnSpPr>
        <p:spPr>
          <a:xfrm>
            <a:off x="371192" y="6201624"/>
            <a:ext cx="116144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98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UC Davis Wordmark">
            <a:extLst>
              <a:ext uri="{FF2B5EF4-FFF2-40B4-BE49-F238E27FC236}">
                <a16:creationId xmlns:a16="http://schemas.microsoft.com/office/drawing/2014/main" id="{89C3DA10-B7D9-7D62-5D22-87140E9D7F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72" y="6361994"/>
            <a:ext cx="1513360" cy="26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5990A80-69B7-6D8B-987D-4CEB5DF74D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847" y="6353609"/>
            <a:ext cx="1444443" cy="297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2" descr="uc merced logo text">
            <a:extLst>
              <a:ext uri="{FF2B5EF4-FFF2-40B4-BE49-F238E27FC236}">
                <a16:creationId xmlns:a16="http://schemas.microsoft.com/office/drawing/2014/main" id="{B1268987-0C37-4701-5F55-5237D88775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40" y="6368047"/>
            <a:ext cx="1138017" cy="26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Image of the UC Berkeley logo with examples of primary usage">
            <a:extLst>
              <a:ext uri="{FF2B5EF4-FFF2-40B4-BE49-F238E27FC236}">
                <a16:creationId xmlns:a16="http://schemas.microsoft.com/office/drawing/2014/main" id="{530B414A-AD12-5BC1-BBE3-57E43CAEB81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2" t="56636" r="33517" b="32590"/>
          <a:stretch/>
        </p:blipFill>
        <p:spPr bwMode="auto">
          <a:xfrm>
            <a:off x="5421972" y="6266352"/>
            <a:ext cx="1138017" cy="48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C6287B-3AD5-BC88-D649-7CD14FEE56F1}"/>
              </a:ext>
            </a:extLst>
          </p:cNvPr>
          <p:cNvCxnSpPr>
            <a:cxnSpLocks/>
          </p:cNvCxnSpPr>
          <p:nvPr userDrawn="1"/>
        </p:nvCxnSpPr>
        <p:spPr>
          <a:xfrm>
            <a:off x="606440" y="6201624"/>
            <a:ext cx="113792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05C28263-29F9-7E9B-E4AD-B157596D5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5720" y="6368007"/>
            <a:ext cx="12999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EBCD9-C27D-4CBD-88F4-08B4D3A2CDB0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70FA772-5DC9-E3A2-053A-7CFBAF93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25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509AB68-8158-D6F4-D504-25FAC75366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637415"/>
            <a:ext cx="10515600" cy="39982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687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86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31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B2B9-D868-2380-AEAD-8343D19D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3A33C-5257-6B54-0D0F-C6660B5A9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B82A7-A94D-3712-E75F-BCE443D6E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49936-19A9-44CE-8534-62C4492971F7}" type="datetimeFigureOut">
              <a:rPr lang="en-US" smtClean="0"/>
              <a:t>6/17/2024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0EFED-35C7-0989-B28D-9003B7418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ECF43-C7C1-5E4F-3816-17E6F0D8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71C00-AC08-4307-B781-09B097045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2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1C7E7F-92A3-F69B-5FCB-72F93C71C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4877" y="1094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EBCD9-C27D-4CBD-88F4-08B4D3A2C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9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ecdms.energy.ca.gov/elecbycounty.aspx" TargetMode="Externa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60BEEC-7644-A14B-A4F8-D13B5F85280A}"/>
              </a:ext>
            </a:extLst>
          </p:cNvPr>
          <p:cNvSpPr txBox="1"/>
          <p:nvPr/>
        </p:nvSpPr>
        <p:spPr>
          <a:xfrm>
            <a:off x="599682" y="2683707"/>
            <a:ext cx="51529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[TITLE]</a:t>
            </a:r>
          </a:p>
          <a:p>
            <a:r>
              <a:rPr lang="en-US" sz="4000" dirty="0">
                <a:solidFill>
                  <a:schemeClr val="bg1"/>
                </a:solidFill>
              </a:rPr>
              <a:t>[Subtitle]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901A9-604F-29C5-750A-E48BA76F5133}"/>
              </a:ext>
            </a:extLst>
          </p:cNvPr>
          <p:cNvSpPr txBox="1"/>
          <p:nvPr/>
        </p:nvSpPr>
        <p:spPr>
          <a:xfrm>
            <a:off x="1074945" y="887254"/>
            <a:ext cx="10336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Improving Preparedness of Communities for Evacuations using ZEVs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EA691-C850-9718-6047-895D5136B286}"/>
              </a:ext>
            </a:extLst>
          </p:cNvPr>
          <p:cNvSpPr txBox="1"/>
          <p:nvPr/>
        </p:nvSpPr>
        <p:spPr>
          <a:xfrm>
            <a:off x="3180338" y="2526683"/>
            <a:ext cx="657244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Project Overview</a:t>
            </a:r>
          </a:p>
          <a:p>
            <a:pPr algn="ctr"/>
            <a:endParaRPr lang="en-US" sz="3200" b="1" i="1" u="sng" dirty="0"/>
          </a:p>
          <a:p>
            <a:pPr algn="ctr"/>
            <a:r>
              <a:rPr lang="en-US" sz="3200" b="1" i="1" u="sng" dirty="0"/>
              <a:t>Meeting #1 with Community Partners</a:t>
            </a:r>
          </a:p>
          <a:p>
            <a:pPr algn="ctr"/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9AC20-EDA7-EE64-C422-94B255440B36}"/>
              </a:ext>
            </a:extLst>
          </p:cNvPr>
          <p:cNvSpPr txBox="1"/>
          <p:nvPr/>
        </p:nvSpPr>
        <p:spPr>
          <a:xfrm>
            <a:off x="4138651" y="4715870"/>
            <a:ext cx="4812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u="sng" dirty="0"/>
              <a:t>Ricardo de Castro (UC Merced)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2DF44-89BB-BE5A-33EA-AE46B0BEBAF1}"/>
              </a:ext>
            </a:extLst>
          </p:cNvPr>
          <p:cNvSpPr txBox="1"/>
          <p:nvPr/>
        </p:nvSpPr>
        <p:spPr>
          <a:xfrm>
            <a:off x="5496363" y="5396114"/>
            <a:ext cx="20970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April 26</a:t>
            </a:r>
            <a:r>
              <a:rPr lang="en-US" sz="2400" baseline="30000" dirty="0"/>
              <a:t>th</a:t>
            </a:r>
            <a:r>
              <a:rPr lang="en-US" sz="2400" dirty="0"/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154408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AC8E95-FC19-DF90-37D3-06089323C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D22FAA-E4C4-D6FC-AA0A-E5EE4797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CC4BC9-7CC6-691A-F790-6FD6AD3CA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490818"/>
              </p:ext>
            </p:extLst>
          </p:nvPr>
        </p:nvGraphicFramePr>
        <p:xfrm>
          <a:off x="1329822" y="1024630"/>
          <a:ext cx="10005865" cy="428365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454273">
                  <a:extLst>
                    <a:ext uri="{9D8B030D-6E8A-4147-A177-3AD203B41FA5}">
                      <a16:colId xmlns:a16="http://schemas.microsoft.com/office/drawing/2014/main" val="642639395"/>
                    </a:ext>
                  </a:extLst>
                </a:gridCol>
                <a:gridCol w="4702446">
                  <a:extLst>
                    <a:ext uri="{9D8B030D-6E8A-4147-A177-3AD203B41FA5}">
                      <a16:colId xmlns:a16="http://schemas.microsoft.com/office/drawing/2014/main" val="3706713554"/>
                    </a:ext>
                  </a:extLst>
                </a:gridCol>
                <a:gridCol w="3849146">
                  <a:extLst>
                    <a:ext uri="{9D8B030D-6E8A-4147-A177-3AD203B41FA5}">
                      <a16:colId xmlns:a16="http://schemas.microsoft.com/office/drawing/2014/main" val="1576717099"/>
                    </a:ext>
                  </a:extLst>
                </a:gridCol>
              </a:tblGrid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Time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Description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Presenter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9813068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11:00- 11:30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Round of Introductions (1min each)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-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677170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11:30-11:45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Project Overview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Ricardo de </a:t>
                      </a:r>
                      <a:r>
                        <a:rPr lang="en-US" sz="1600" kern="100" dirty="0" err="1">
                          <a:effectLst/>
                        </a:rPr>
                        <a:t>Casto</a:t>
                      </a:r>
                      <a:r>
                        <a:rPr lang="en-US" sz="1600" kern="100" dirty="0">
                          <a:effectLst/>
                        </a:rPr>
                        <a:t>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82791"/>
                  </a:ext>
                </a:extLst>
              </a:tr>
              <a:tr h="2457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11:45-12:05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Readiness for EV-based evacuation 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Keith Corzine, Osman Saleem (UCSC)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02915"/>
                  </a:ext>
                </a:extLst>
              </a:tr>
              <a:tr h="220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12:05-12:30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Planning Infrastructure Investments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Keith Corzine, </a:t>
                      </a:r>
                      <a:r>
                        <a:rPr lang="en-US" sz="1600" kern="100" dirty="0" err="1">
                          <a:effectLst/>
                        </a:rPr>
                        <a:t>Saheed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err="1">
                          <a:effectLst/>
                        </a:rPr>
                        <a:t>Lakeh</a:t>
                      </a:r>
                      <a:r>
                        <a:rPr lang="en-US" sz="1600" kern="100" dirty="0">
                          <a:effectLst/>
                        </a:rPr>
                        <a:t>  (UCSC)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2675136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12:30-13:25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Lunch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-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8787044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13:25-13:30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Group Photo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-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518738"/>
                  </a:ext>
                </a:extLst>
              </a:tr>
              <a:tr h="2391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13:30-14:00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Minimizing Evacuation Time via Optimization Tools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Xuchang</a:t>
                      </a:r>
                      <a:r>
                        <a:rPr lang="en-US" sz="1600" kern="100" dirty="0">
                          <a:effectLst/>
                        </a:rPr>
                        <a:t>  Tang (UCD), Shuang Feng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3174572"/>
                  </a:ext>
                </a:extLst>
              </a:tr>
              <a:tr h="214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14:00-14:20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Definition of  use cases for Merced/Mariposa evacuations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Qijian</a:t>
                      </a:r>
                      <a:r>
                        <a:rPr lang="en-US" sz="1600" kern="100" dirty="0">
                          <a:effectLst/>
                        </a:rPr>
                        <a:t> Gan(UCB)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520911"/>
                  </a:ext>
                </a:extLst>
              </a:tr>
              <a:tr h="3891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14:20:14:40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Potential Public Policy Implications for effective EV-based evacuations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S. Markolf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2284062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14:40-15:00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Conclusion &amp; Next Steps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42073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8D8DA1-5525-BB25-8BD8-B58F447F9705}"/>
              </a:ext>
            </a:extLst>
          </p:cNvPr>
          <p:cNvSpPr txBox="1"/>
          <p:nvPr/>
        </p:nvSpPr>
        <p:spPr>
          <a:xfrm>
            <a:off x="1556426" y="5833370"/>
            <a:ext cx="3364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*10 min presenting + 10 min Q&amp;A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176C7-C469-E76E-9C94-7AA1D7B74C46}"/>
              </a:ext>
            </a:extLst>
          </p:cNvPr>
          <p:cNvSpPr/>
          <p:nvPr/>
        </p:nvSpPr>
        <p:spPr>
          <a:xfrm>
            <a:off x="1215957" y="1259408"/>
            <a:ext cx="10282137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7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275B58-8E13-1875-A277-48105E843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1216C-BF49-9156-409A-71CF3F9B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of Introductions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961E8-BCC4-B96F-743E-849BF24047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637415"/>
            <a:ext cx="5727970" cy="399821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Name?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Affiliation?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Experience with evacuations?  (professional or personal)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What is your expectation for this meeting?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9105DD-14C0-6A20-21B4-61D104140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268" y="252102"/>
            <a:ext cx="4210638" cy="590632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2CB03D-BACF-3ECC-D6AC-9D481E883AF6}"/>
              </a:ext>
            </a:extLst>
          </p:cNvPr>
          <p:cNvCxnSpPr/>
          <p:nvPr/>
        </p:nvCxnSpPr>
        <p:spPr>
          <a:xfrm>
            <a:off x="7538937" y="4484452"/>
            <a:ext cx="371596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58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AC8E95-FC19-DF90-37D3-06089323C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D22FAA-E4C4-D6FC-AA0A-E5EE4797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CC4BC9-7CC6-691A-F790-6FD6AD3CA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906077"/>
              </p:ext>
            </p:extLst>
          </p:nvPr>
        </p:nvGraphicFramePr>
        <p:xfrm>
          <a:off x="1329822" y="1024630"/>
          <a:ext cx="10005865" cy="428365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454273">
                  <a:extLst>
                    <a:ext uri="{9D8B030D-6E8A-4147-A177-3AD203B41FA5}">
                      <a16:colId xmlns:a16="http://schemas.microsoft.com/office/drawing/2014/main" val="642639395"/>
                    </a:ext>
                  </a:extLst>
                </a:gridCol>
                <a:gridCol w="4702446">
                  <a:extLst>
                    <a:ext uri="{9D8B030D-6E8A-4147-A177-3AD203B41FA5}">
                      <a16:colId xmlns:a16="http://schemas.microsoft.com/office/drawing/2014/main" val="3706713554"/>
                    </a:ext>
                  </a:extLst>
                </a:gridCol>
                <a:gridCol w="3849146">
                  <a:extLst>
                    <a:ext uri="{9D8B030D-6E8A-4147-A177-3AD203B41FA5}">
                      <a16:colId xmlns:a16="http://schemas.microsoft.com/office/drawing/2014/main" val="1576717099"/>
                    </a:ext>
                  </a:extLst>
                </a:gridCol>
              </a:tblGrid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Time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Description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Presenter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9813068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11:00- 11:30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Round of Introductions (1min each)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-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677170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11:30-11:45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Project Overview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Ricardo de </a:t>
                      </a:r>
                      <a:r>
                        <a:rPr lang="en-US" sz="1600" kern="100" dirty="0" err="1">
                          <a:effectLst/>
                        </a:rPr>
                        <a:t>Casto</a:t>
                      </a:r>
                      <a:r>
                        <a:rPr lang="en-US" sz="1600" kern="100" dirty="0">
                          <a:effectLst/>
                        </a:rPr>
                        <a:t>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82791"/>
                  </a:ext>
                </a:extLst>
              </a:tr>
              <a:tr h="2457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11:45-12:05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Readiness for EV-based evacuation 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Keith Corzine, Osman Saleem (UCSC)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02915"/>
                  </a:ext>
                </a:extLst>
              </a:tr>
              <a:tr h="220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12:05-12:30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Planning Infrastructure Investments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Keith Corzine, </a:t>
                      </a:r>
                      <a:r>
                        <a:rPr lang="en-US" sz="1600" kern="100" dirty="0" err="1">
                          <a:effectLst/>
                        </a:rPr>
                        <a:t>Saheed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err="1">
                          <a:effectLst/>
                        </a:rPr>
                        <a:t>Lakeh</a:t>
                      </a:r>
                      <a:r>
                        <a:rPr lang="en-US" sz="1600" kern="100" dirty="0">
                          <a:effectLst/>
                        </a:rPr>
                        <a:t>  (UCSC)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2675136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12:30-13:25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Lunch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-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8787044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13:25-13:30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Group Photo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-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518738"/>
                  </a:ext>
                </a:extLst>
              </a:tr>
              <a:tr h="2391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13:30-14:00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Minimizing Evacuation Time via Optimization Tools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Xuchang</a:t>
                      </a:r>
                      <a:r>
                        <a:rPr lang="en-US" sz="1600" kern="100" dirty="0">
                          <a:effectLst/>
                        </a:rPr>
                        <a:t>  Tang (UCD), Shuang Feng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3174572"/>
                  </a:ext>
                </a:extLst>
              </a:tr>
              <a:tr h="214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14:00-14:20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Definition of  use cases for Merced/Mariposa evacuations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Qijian</a:t>
                      </a:r>
                      <a:r>
                        <a:rPr lang="en-US" sz="1600" kern="100" dirty="0">
                          <a:effectLst/>
                        </a:rPr>
                        <a:t> Gan(UCB)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520911"/>
                  </a:ext>
                </a:extLst>
              </a:tr>
              <a:tr h="3891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14:20:14:40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Potential Public Policy Implications for effective EV-based evacuations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S. Markolf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2284062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14:40-15:00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Conclusion &amp; Next Steps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42073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8D8DA1-5525-BB25-8BD8-B58F447F9705}"/>
              </a:ext>
            </a:extLst>
          </p:cNvPr>
          <p:cNvSpPr txBox="1"/>
          <p:nvPr/>
        </p:nvSpPr>
        <p:spPr>
          <a:xfrm>
            <a:off x="1420238" y="5679435"/>
            <a:ext cx="2952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*10 min presenting + 10 Q&amp;A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C80D5B-2A2E-CD69-17C9-09585E198D03}"/>
              </a:ext>
            </a:extLst>
          </p:cNvPr>
          <p:cNvSpPr/>
          <p:nvPr/>
        </p:nvSpPr>
        <p:spPr>
          <a:xfrm>
            <a:off x="1215957" y="1605064"/>
            <a:ext cx="10282137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6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33CFED-F3AF-554C-D99A-7769C883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9BBA44-FC35-F33C-B222-3068C18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Hazards Trigger Evacuations in California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DAAD7-D509-E9C6-CAC9-60E396E893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4721"/>
          <a:stretch/>
        </p:blipFill>
        <p:spPr>
          <a:xfrm>
            <a:off x="1465187" y="1868707"/>
            <a:ext cx="3815906" cy="2107135"/>
          </a:xfrm>
          <a:prstGeom prst="rect">
            <a:avLst/>
          </a:prstGeom>
        </p:spPr>
      </p:pic>
      <p:pic>
        <p:nvPicPr>
          <p:cNvPr id="9" name="Picture 2" descr="A firefighter sprays water from a hose onto flames burning in brush behind a wooden gate">
            <a:extLst>
              <a:ext uri="{FF2B5EF4-FFF2-40B4-BE49-F238E27FC236}">
                <a16:creationId xmlns:a16="http://schemas.microsoft.com/office/drawing/2014/main" id="{43E98CF9-E483-81E0-609A-1147C27A92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6261" y="1785571"/>
            <a:ext cx="3612997" cy="240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EF3E9A-6DA4-7A04-655D-F017D8733973}"/>
              </a:ext>
            </a:extLst>
          </p:cNvPr>
          <p:cNvSpPr txBox="1"/>
          <p:nvPr/>
        </p:nvSpPr>
        <p:spPr>
          <a:xfrm>
            <a:off x="838200" y="1222376"/>
            <a:ext cx="5611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2023: Planada (Merced) Enters Third Day of Evacuations as More </a:t>
            </a:r>
            <a:r>
              <a:rPr lang="en-US" b="1" i="1" dirty="0">
                <a:solidFill>
                  <a:srgbClr val="FF0000"/>
                </a:solidFill>
              </a:rPr>
              <a:t>Storms</a:t>
            </a:r>
            <a:r>
              <a:rPr lang="en-US" b="1" i="1" dirty="0"/>
              <a:t> Loom </a:t>
            </a:r>
            <a:r>
              <a:rPr lang="en-US" i="1" dirty="0"/>
              <a:t>Ahead 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545287-3C53-828C-0C25-87039FCC1B53}"/>
              </a:ext>
            </a:extLst>
          </p:cNvPr>
          <p:cNvSpPr txBox="1"/>
          <p:nvPr/>
        </p:nvSpPr>
        <p:spPr>
          <a:xfrm>
            <a:off x="6910909" y="1139240"/>
            <a:ext cx="4830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2022: Oak </a:t>
            </a:r>
            <a:r>
              <a:rPr lang="en-US" b="1" i="1" dirty="0">
                <a:solidFill>
                  <a:srgbClr val="FF0000"/>
                </a:solidFill>
              </a:rPr>
              <a:t>fire</a:t>
            </a:r>
            <a:r>
              <a:rPr lang="en-US" i="1" dirty="0"/>
              <a:t> near Yosemite explores to 6555 acres. Thousands evacuated ….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1BB645-0BF5-0FE7-3877-B031BA2F7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718" y="2559685"/>
            <a:ext cx="678553" cy="6463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B724A0-292A-EB91-C8E6-F2D794ECCB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42" y="2126960"/>
            <a:ext cx="677775" cy="6688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1CB173-B913-96EB-1699-50CEEE429E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42" y="2876130"/>
            <a:ext cx="639445" cy="6227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2580562-0A1F-D38B-33F9-7D448B240AAE}"/>
              </a:ext>
            </a:extLst>
          </p:cNvPr>
          <p:cNvSpPr/>
          <p:nvPr/>
        </p:nvSpPr>
        <p:spPr>
          <a:xfrm>
            <a:off x="154529" y="5974714"/>
            <a:ext cx="11985655" cy="103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27C47F0B-0E0B-267B-7D25-627D6550F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368" y="4312238"/>
            <a:ext cx="3815906" cy="254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DDA3CB-DA02-E74C-50A4-AF2AFA8DA07F}"/>
              </a:ext>
            </a:extLst>
          </p:cNvPr>
          <p:cNvSpPr txBox="1"/>
          <p:nvPr/>
        </p:nvSpPr>
        <p:spPr>
          <a:xfrm>
            <a:off x="7519050" y="4930173"/>
            <a:ext cx="3370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2007: mass evacuations (</a:t>
            </a:r>
            <a:r>
              <a:rPr lang="en-US" b="1" dirty="0">
                <a:solidFill>
                  <a:srgbClr val="FF0000"/>
                </a:solidFill>
              </a:rPr>
              <a:t>500,000 people</a:t>
            </a:r>
            <a:r>
              <a:rPr lang="en-US" dirty="0"/>
              <a:t>) over a 7day period in San Diego due to </a:t>
            </a:r>
            <a:r>
              <a:rPr lang="en-US" b="1" dirty="0">
                <a:solidFill>
                  <a:srgbClr val="FF0000"/>
                </a:solidFill>
              </a:rPr>
              <a:t>Witch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Fire</a:t>
            </a:r>
            <a:r>
              <a:rPr lang="en-US" dirty="0"/>
              <a:t>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1C9BFDA-BFDE-DD1D-6C0B-08C96D313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427" y="5499413"/>
            <a:ext cx="678553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625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95ADD6-9103-4771-47C8-FF090D2F2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EEA9F4-D1FB-6C0F-75AB-4E6DC6E1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adoption of EVs in California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ABF0A8-49E2-9755-DC93-545F416FB97A}"/>
              </a:ext>
            </a:extLst>
          </p:cNvPr>
          <p:cNvSpPr txBox="1"/>
          <p:nvPr/>
        </p:nvSpPr>
        <p:spPr>
          <a:xfrm>
            <a:off x="6235430" y="2282691"/>
            <a:ext cx="1884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2035 mandate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…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B13005-0475-31B4-3DEA-1C3D4366BF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119"/>
          <a:stretch/>
        </p:blipFill>
        <p:spPr>
          <a:xfrm>
            <a:off x="681433" y="1406758"/>
            <a:ext cx="7438039" cy="446510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322756-6949-CE28-7B4C-D27C99D54ED0}"/>
              </a:ext>
            </a:extLst>
          </p:cNvPr>
          <p:cNvCxnSpPr>
            <a:cxnSpLocks/>
          </p:cNvCxnSpPr>
          <p:nvPr/>
        </p:nvCxnSpPr>
        <p:spPr>
          <a:xfrm>
            <a:off x="4879908" y="3091906"/>
            <a:ext cx="0" cy="823144"/>
          </a:xfrm>
          <a:prstGeom prst="line">
            <a:avLst/>
          </a:prstGeom>
          <a:ln w="3175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9C6A8C-343C-D781-6884-8CCD2EB4EA0D}"/>
              </a:ext>
            </a:extLst>
          </p:cNvPr>
          <p:cNvSpPr txBox="1"/>
          <p:nvPr/>
        </p:nvSpPr>
        <p:spPr>
          <a:xfrm>
            <a:off x="4507883" y="2722574"/>
            <a:ext cx="744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819E8-6589-9A62-2619-A1A62F98BCAE}"/>
              </a:ext>
            </a:extLst>
          </p:cNvPr>
          <p:cNvSpPr txBox="1"/>
          <p:nvPr/>
        </p:nvSpPr>
        <p:spPr>
          <a:xfrm>
            <a:off x="8697706" y="1498143"/>
            <a:ext cx="30691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CA Executive order N-79-20:  </a:t>
            </a:r>
            <a:r>
              <a:rPr lang="en-US" i="1" dirty="0"/>
              <a:t>100% sales of </a:t>
            </a:r>
            <a:r>
              <a:rPr lang="en-US" i="1" dirty="0" err="1"/>
              <a:t>ligh</a:t>
            </a:r>
            <a:r>
              <a:rPr lang="en-US" i="1" dirty="0"/>
              <a:t> duty Zero Emission Vehicles (ZEV) by 2035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745730-5DD1-7D06-2F16-C67459B32E7E}"/>
              </a:ext>
            </a:extLst>
          </p:cNvPr>
          <p:cNvSpPr txBox="1"/>
          <p:nvPr/>
        </p:nvSpPr>
        <p:spPr>
          <a:xfrm>
            <a:off x="8491497" y="3639312"/>
            <a:ext cx="3275395" cy="923330"/>
          </a:xfrm>
          <a:prstGeom prst="rect">
            <a:avLst/>
          </a:prstGeom>
          <a:noFill/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/>
              <a:t>Q: Are we ready to deal with evacuations using only EVs? </a:t>
            </a:r>
          </a:p>
          <a:p>
            <a:r>
              <a:rPr lang="en-US" b="1" i="1" dirty="0"/>
              <a:t>What could be the challenges?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AC25B823-6ACF-E10F-4C8E-7740D5A8E516}"/>
              </a:ext>
            </a:extLst>
          </p:cNvPr>
          <p:cNvSpPr/>
          <p:nvPr/>
        </p:nvSpPr>
        <p:spPr>
          <a:xfrm rot="21177609">
            <a:off x="7826030" y="2057389"/>
            <a:ext cx="958911" cy="3693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8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52D77-AAC6-92FB-6A05-6696DD7DA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5987CD-15F7-6938-2400-EB872376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1: Lack of Power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17569C-5667-ECBE-BE50-90DDAFD622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898"/>
          <a:stretch/>
        </p:blipFill>
        <p:spPr>
          <a:xfrm>
            <a:off x="13682114" y="3458591"/>
            <a:ext cx="6734907" cy="8572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F9A60A-2C61-3C46-2CAA-C737589BF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" y="7704085"/>
            <a:ext cx="6127943" cy="14158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BB837B2-8D78-F3B7-F2D9-66468118E20F}"/>
              </a:ext>
            </a:extLst>
          </p:cNvPr>
          <p:cNvSpPr txBox="1"/>
          <p:nvPr/>
        </p:nvSpPr>
        <p:spPr>
          <a:xfrm>
            <a:off x="13876574" y="5212606"/>
            <a:ext cx="3529326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What if you are asked to evacuate with  a battery-based EV 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EV battery has low charge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Charging station lacks power due to “power shutoff”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BAAF24-74AC-E98E-60EC-A57C5C1A0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6526" y="1431851"/>
            <a:ext cx="6878271" cy="1415869"/>
          </a:xfrm>
          <a:prstGeom prst="rect">
            <a:avLst/>
          </a:prstGeo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B147BC7A-67FB-F9B7-F83A-870A05D51219}"/>
              </a:ext>
            </a:extLst>
          </p:cNvPr>
          <p:cNvSpPr/>
          <p:nvPr/>
        </p:nvSpPr>
        <p:spPr>
          <a:xfrm rot="16200000">
            <a:off x="16610656" y="3903535"/>
            <a:ext cx="877824" cy="1602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B11D2B-C0BD-DD78-31D2-355A85DE7A69}"/>
              </a:ext>
            </a:extLst>
          </p:cNvPr>
          <p:cNvSpPr txBox="1"/>
          <p:nvPr/>
        </p:nvSpPr>
        <p:spPr>
          <a:xfrm>
            <a:off x="16507968" y="5290154"/>
            <a:ext cx="33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We may need backup power…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2D4C38-626C-B931-9130-26F348ADA1D2}"/>
              </a:ext>
            </a:extLst>
          </p:cNvPr>
          <p:cNvSpPr txBox="1"/>
          <p:nvPr/>
        </p:nvSpPr>
        <p:spPr>
          <a:xfrm>
            <a:off x="18047208" y="4542021"/>
            <a:ext cx="3361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Off-grid Backup Chargers</a:t>
            </a:r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1435820-4A4F-7142-2315-E207E5B44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640" y="1868978"/>
            <a:ext cx="8046720" cy="163814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6CF84DC-4C37-CCDB-4A48-EB0DB049A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9047" y="3522495"/>
            <a:ext cx="6872907" cy="76775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C4EDB46-CC81-B18F-0720-202E8E6064FD}"/>
              </a:ext>
            </a:extLst>
          </p:cNvPr>
          <p:cNvSpPr txBox="1"/>
          <p:nvPr/>
        </p:nvSpPr>
        <p:spPr>
          <a:xfrm>
            <a:off x="1542500" y="4726687"/>
            <a:ext cx="93149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1. How to evacuate when </a:t>
            </a:r>
            <a:r>
              <a:rPr lang="en-US" sz="2400" b="1" i="1" dirty="0">
                <a:solidFill>
                  <a:srgbClr val="FF0000"/>
                </a:solidFill>
              </a:rPr>
              <a:t>grid power in not available</a:t>
            </a:r>
            <a:r>
              <a:rPr lang="en-US" sz="2400" b="1" i="1" dirty="0"/>
              <a:t> to charge EVs?</a:t>
            </a:r>
          </a:p>
        </p:txBody>
      </p:sp>
    </p:spTree>
    <p:extLst>
      <p:ext uri="{BB962C8B-B14F-4D97-AF65-F5344CB8AC3E}">
        <p14:creationId xmlns:p14="http://schemas.microsoft.com/office/powerpoint/2010/main" val="139428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D1ECA75-EDA4-A510-D20B-1D6C19D12989}"/>
              </a:ext>
            </a:extLst>
          </p:cNvPr>
          <p:cNvSpPr/>
          <p:nvPr/>
        </p:nvSpPr>
        <p:spPr>
          <a:xfrm>
            <a:off x="508590" y="1607837"/>
            <a:ext cx="5486400" cy="14874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Evacuation of 5k cars in Mariposa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0.32kWh/mile of energy consumption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70 miles to reach “safety”/shelter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6DBFF2-5785-7723-FCD5-4212001BC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E701AE-7458-9B4A-35CE-4212B66E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Grid Overload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7C11C-250D-BB88-2DE3-D759972546DE}"/>
              </a:ext>
            </a:extLst>
          </p:cNvPr>
          <p:cNvSpPr/>
          <p:nvPr/>
        </p:nvSpPr>
        <p:spPr>
          <a:xfrm>
            <a:off x="5131491" y="4434946"/>
            <a:ext cx="1582970" cy="350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DA334-7302-9E42-AB41-2992476D5E15}"/>
              </a:ext>
            </a:extLst>
          </p:cNvPr>
          <p:cNvSpPr txBox="1"/>
          <p:nvPr/>
        </p:nvSpPr>
        <p:spPr>
          <a:xfrm>
            <a:off x="1946144" y="4431782"/>
            <a:ext cx="3134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Ch. Energy - 1day evac. window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AB4023-54C8-DC29-A9C2-F93D4125AE1C}"/>
              </a:ext>
            </a:extLst>
          </p:cNvPr>
          <p:cNvSpPr/>
          <p:nvPr/>
        </p:nvSpPr>
        <p:spPr>
          <a:xfrm>
            <a:off x="5142123" y="4053292"/>
            <a:ext cx="393405" cy="350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CF463-4C62-24F0-1B03-9116245F5BA2}"/>
              </a:ext>
            </a:extLst>
          </p:cNvPr>
          <p:cNvSpPr txBox="1"/>
          <p:nvPr/>
        </p:nvSpPr>
        <p:spPr>
          <a:xfrm>
            <a:off x="2017283" y="4044063"/>
            <a:ext cx="3134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Ch. Energy - 7day evac. window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315F8B-6E01-BFDC-2549-BD6F3AFBFA74}"/>
              </a:ext>
            </a:extLst>
          </p:cNvPr>
          <p:cNvSpPr/>
          <p:nvPr/>
        </p:nvSpPr>
        <p:spPr>
          <a:xfrm>
            <a:off x="5131490" y="4804327"/>
            <a:ext cx="3950245" cy="35087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89CC42-3BF5-441D-757E-DA37C27B6723}"/>
              </a:ext>
            </a:extLst>
          </p:cNvPr>
          <p:cNvSpPr txBox="1"/>
          <p:nvPr/>
        </p:nvSpPr>
        <p:spPr>
          <a:xfrm>
            <a:off x="2267854" y="4804207"/>
            <a:ext cx="3225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Avg. Energy generation</a:t>
            </a:r>
          </a:p>
          <a:p>
            <a:pPr algn="ctr"/>
            <a:r>
              <a:rPr lang="en-US" i="1" dirty="0"/>
              <a:t>In Mariposa*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CD2C3-95CC-FD6D-0720-4BA0496BAB1B}"/>
              </a:ext>
            </a:extLst>
          </p:cNvPr>
          <p:cNvSpPr txBox="1"/>
          <p:nvPr/>
        </p:nvSpPr>
        <p:spPr>
          <a:xfrm>
            <a:off x="9081735" y="4782509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310MWh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96B01E-CF78-D928-3D19-DA4453CA47B3}"/>
              </a:ext>
            </a:extLst>
          </p:cNvPr>
          <p:cNvSpPr txBox="1"/>
          <p:nvPr/>
        </p:nvSpPr>
        <p:spPr>
          <a:xfrm>
            <a:off x="5502505" y="4010123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15.7 MWh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C2760-F0CF-510D-76A0-C9CB9FFD9804}"/>
              </a:ext>
            </a:extLst>
          </p:cNvPr>
          <p:cNvSpPr txBox="1"/>
          <p:nvPr/>
        </p:nvSpPr>
        <p:spPr>
          <a:xfrm>
            <a:off x="5831983" y="5602477"/>
            <a:ext cx="6177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*Mariposa avg power in 2022:  114GWh/365=0.31GWh/day=</a:t>
            </a:r>
            <a:r>
              <a:rPr lang="en-US" sz="1200" dirty="0">
                <a:solidFill>
                  <a:srgbClr val="FF0000"/>
                </a:solidFill>
              </a:rPr>
              <a:t>13MW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2DE87-0EE0-CF2A-7C38-618B5C0261FF}"/>
              </a:ext>
            </a:extLst>
          </p:cNvPr>
          <p:cNvSpPr txBox="1"/>
          <p:nvPr/>
        </p:nvSpPr>
        <p:spPr>
          <a:xfrm>
            <a:off x="6673018" y="6265795"/>
            <a:ext cx="6177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*CEC: https://ecdms.energy.ca.gov/elecbycounty.aspx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642FB1-AD97-A3E5-AE15-493244121777}"/>
              </a:ext>
            </a:extLst>
          </p:cNvPr>
          <p:cNvSpPr txBox="1"/>
          <p:nvPr/>
        </p:nvSpPr>
        <p:spPr>
          <a:xfrm>
            <a:off x="3353188" y="3432420"/>
            <a:ext cx="6974241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Short evacuation window may </a:t>
            </a:r>
            <a:r>
              <a:rPr lang="en-US" sz="2400" b="1" i="1" dirty="0">
                <a:solidFill>
                  <a:srgbClr val="FF0000"/>
                </a:solidFill>
              </a:rPr>
              <a:t>overload the grid!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E24A70-5018-FCD2-E87C-A08793CA9204}"/>
              </a:ext>
            </a:extLst>
          </p:cNvPr>
          <p:cNvSpPr txBox="1"/>
          <p:nvPr/>
        </p:nvSpPr>
        <p:spPr>
          <a:xfrm>
            <a:off x="7597759" y="4422640"/>
            <a:ext cx="421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(35% of average energy gen. in Mariposa!)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94849B-69DF-395F-49C8-CBCD702CA6DF}"/>
              </a:ext>
            </a:extLst>
          </p:cNvPr>
          <p:cNvSpPr txBox="1"/>
          <p:nvPr/>
        </p:nvSpPr>
        <p:spPr>
          <a:xfrm>
            <a:off x="1577988" y="1350924"/>
            <a:ext cx="3077876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Assumptions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9C4A19-0442-E245-3685-11CAA057C89B}"/>
              </a:ext>
            </a:extLst>
          </p:cNvPr>
          <p:cNvSpPr/>
          <p:nvPr/>
        </p:nvSpPr>
        <p:spPr>
          <a:xfrm>
            <a:off x="6176292" y="1596662"/>
            <a:ext cx="5486400" cy="14874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Energy: 22kWh/vehicle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Evac. Energy:  22kWh*5k = </a:t>
            </a:r>
            <a:r>
              <a:rPr lang="en-US" dirty="0">
                <a:solidFill>
                  <a:srgbClr val="FF0000"/>
                </a:solidFill>
              </a:rPr>
              <a:t>110MWh 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B34DAF-E974-9A73-9FA7-260DE9EEAB3B}"/>
              </a:ext>
            </a:extLst>
          </p:cNvPr>
          <p:cNvSpPr txBox="1"/>
          <p:nvPr/>
        </p:nvSpPr>
        <p:spPr>
          <a:xfrm>
            <a:off x="7594572" y="1377835"/>
            <a:ext cx="3077876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Evacuation Energy Needs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5F4C4-A962-BF14-A0A4-FCC18725EFF5}"/>
              </a:ext>
            </a:extLst>
          </p:cNvPr>
          <p:cNvSpPr txBox="1"/>
          <p:nvPr/>
        </p:nvSpPr>
        <p:spPr>
          <a:xfrm>
            <a:off x="6698309" y="4431782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110MWh</a:t>
            </a:r>
          </a:p>
        </p:txBody>
      </p:sp>
    </p:spTree>
    <p:extLst>
      <p:ext uri="{BB962C8B-B14F-4D97-AF65-F5344CB8AC3E}">
        <p14:creationId xmlns:p14="http://schemas.microsoft.com/office/powerpoint/2010/main" val="207114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10" grpId="0"/>
      <p:bldP spid="11" grpId="0" animBg="1"/>
      <p:bldP spid="12" grpId="0"/>
      <p:bldP spid="13" grpId="0"/>
      <p:bldP spid="14" grpId="0"/>
      <p:bldP spid="20" grpId="0"/>
      <p:bldP spid="30" grpId="0" animBg="1"/>
      <p:bldP spid="29" grpId="0" animBg="1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BDABB-FBFC-C4F3-0893-8AA7BB117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6DACA5-E95E-A7A5-64D3-24D8ADCCA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Grid Overload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013F3C-065E-0AF0-37DB-FB3E65B7DB23}"/>
              </a:ext>
            </a:extLst>
          </p:cNvPr>
          <p:cNvSpPr/>
          <p:nvPr/>
        </p:nvSpPr>
        <p:spPr>
          <a:xfrm>
            <a:off x="5165710" y="1157050"/>
            <a:ext cx="45719" cy="350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FBBB9-C399-E898-27AF-C608B9300572}"/>
              </a:ext>
            </a:extLst>
          </p:cNvPr>
          <p:cNvSpPr txBox="1"/>
          <p:nvPr/>
        </p:nvSpPr>
        <p:spPr>
          <a:xfrm>
            <a:off x="2235678" y="1212987"/>
            <a:ext cx="297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Ch.Energy-1day evac. window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4EBEA9-A805-04F4-027A-381EC226525D}"/>
              </a:ext>
            </a:extLst>
          </p:cNvPr>
          <p:cNvSpPr/>
          <p:nvPr/>
        </p:nvSpPr>
        <p:spPr>
          <a:xfrm>
            <a:off x="5162339" y="1569039"/>
            <a:ext cx="157593" cy="35087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63089-FB71-CD62-9E0F-F86E25BE8CFB}"/>
              </a:ext>
            </a:extLst>
          </p:cNvPr>
          <p:cNvSpPr txBox="1"/>
          <p:nvPr/>
        </p:nvSpPr>
        <p:spPr>
          <a:xfrm>
            <a:off x="2718269" y="1558662"/>
            <a:ext cx="247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Avg. Energy generation*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8CE77-DA20-0D01-5041-1072C4F152E1}"/>
              </a:ext>
            </a:extLst>
          </p:cNvPr>
          <p:cNvSpPr txBox="1"/>
          <p:nvPr/>
        </p:nvSpPr>
        <p:spPr>
          <a:xfrm>
            <a:off x="5470837" y="1578464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310MWh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7E61EE-BC5D-895D-9784-940D6AFC514A}"/>
              </a:ext>
            </a:extLst>
          </p:cNvPr>
          <p:cNvSpPr txBox="1"/>
          <p:nvPr/>
        </p:nvSpPr>
        <p:spPr>
          <a:xfrm>
            <a:off x="5235963" y="1154095"/>
            <a:ext cx="1059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110MWh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C894C-4D63-487B-5632-8C0BE17E18E5}"/>
              </a:ext>
            </a:extLst>
          </p:cNvPr>
          <p:cNvSpPr txBox="1"/>
          <p:nvPr/>
        </p:nvSpPr>
        <p:spPr>
          <a:xfrm>
            <a:off x="648210" y="1218704"/>
            <a:ext cx="1538938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Mariposa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116576-158A-8106-9B58-5663B69B74F3}"/>
              </a:ext>
            </a:extLst>
          </p:cNvPr>
          <p:cNvSpPr txBox="1"/>
          <p:nvPr/>
        </p:nvSpPr>
        <p:spPr>
          <a:xfrm>
            <a:off x="700277" y="2481194"/>
            <a:ext cx="1538938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Merced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842DC-4076-03A7-5A55-41E58606DA2A}"/>
              </a:ext>
            </a:extLst>
          </p:cNvPr>
          <p:cNvSpPr txBox="1"/>
          <p:nvPr/>
        </p:nvSpPr>
        <p:spPr>
          <a:xfrm>
            <a:off x="669373" y="1511729"/>
            <a:ext cx="153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5k cars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D81595-8558-023A-81C9-ADFE04BFD44F}"/>
              </a:ext>
            </a:extLst>
          </p:cNvPr>
          <p:cNvSpPr txBox="1"/>
          <p:nvPr/>
        </p:nvSpPr>
        <p:spPr>
          <a:xfrm>
            <a:off x="333369" y="2829836"/>
            <a:ext cx="237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50k cars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8CB224-9FF3-8BA0-F2C6-F4A91FAAA11F}"/>
              </a:ext>
            </a:extLst>
          </p:cNvPr>
          <p:cNvSpPr/>
          <p:nvPr/>
        </p:nvSpPr>
        <p:spPr>
          <a:xfrm>
            <a:off x="5168978" y="2395926"/>
            <a:ext cx="878767" cy="350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B56B66-D196-8911-78CB-6185AE6F2623}"/>
              </a:ext>
            </a:extLst>
          </p:cNvPr>
          <p:cNvSpPr txBox="1"/>
          <p:nvPr/>
        </p:nvSpPr>
        <p:spPr>
          <a:xfrm>
            <a:off x="2224711" y="2374829"/>
            <a:ext cx="297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Ch.Energy-1day evac. window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8E4235-9F79-F774-0B9B-92025D1828D5}"/>
              </a:ext>
            </a:extLst>
          </p:cNvPr>
          <p:cNvSpPr txBox="1"/>
          <p:nvPr/>
        </p:nvSpPr>
        <p:spPr>
          <a:xfrm>
            <a:off x="6114931" y="2397978"/>
            <a:ext cx="100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1.1 GWh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F5A192-F9F9-2FC8-E5C2-1E16EC61E6C2}"/>
              </a:ext>
            </a:extLst>
          </p:cNvPr>
          <p:cNvSpPr/>
          <p:nvPr/>
        </p:nvSpPr>
        <p:spPr>
          <a:xfrm>
            <a:off x="5162339" y="2778227"/>
            <a:ext cx="3939469" cy="35087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AA97E7-41D5-1935-F7A0-609CC7AAEF4E}"/>
              </a:ext>
            </a:extLst>
          </p:cNvPr>
          <p:cNvSpPr txBox="1"/>
          <p:nvPr/>
        </p:nvSpPr>
        <p:spPr>
          <a:xfrm>
            <a:off x="2738906" y="2759769"/>
            <a:ext cx="247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Avg. Energy generation*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08DC4F-20DF-9D51-5BF9-C4019BD72892}"/>
              </a:ext>
            </a:extLst>
          </p:cNvPr>
          <p:cNvSpPr txBox="1"/>
          <p:nvPr/>
        </p:nvSpPr>
        <p:spPr>
          <a:xfrm>
            <a:off x="9084584" y="2762505"/>
            <a:ext cx="826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 GWh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51270C-FA99-62D2-59CE-E1435F1CD608}"/>
              </a:ext>
            </a:extLst>
          </p:cNvPr>
          <p:cNvSpPr txBox="1"/>
          <p:nvPr/>
        </p:nvSpPr>
        <p:spPr>
          <a:xfrm>
            <a:off x="285394" y="4102262"/>
            <a:ext cx="237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250k cars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6A515C-DD22-0E0E-C3A3-6C85C28491B2}"/>
              </a:ext>
            </a:extLst>
          </p:cNvPr>
          <p:cNvSpPr/>
          <p:nvPr/>
        </p:nvSpPr>
        <p:spPr>
          <a:xfrm>
            <a:off x="5168979" y="4080806"/>
            <a:ext cx="1489002" cy="35087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F36506-6D94-8F96-90D0-55FD52D56DC2}"/>
              </a:ext>
            </a:extLst>
          </p:cNvPr>
          <p:cNvSpPr txBox="1"/>
          <p:nvPr/>
        </p:nvSpPr>
        <p:spPr>
          <a:xfrm>
            <a:off x="2764132" y="4115346"/>
            <a:ext cx="247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Avg. Energy generation*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9D63F5-0D9A-D08F-D1AE-8693F7158CB0}"/>
              </a:ext>
            </a:extLst>
          </p:cNvPr>
          <p:cNvSpPr/>
          <p:nvPr/>
        </p:nvSpPr>
        <p:spPr>
          <a:xfrm>
            <a:off x="5168979" y="3698715"/>
            <a:ext cx="2770352" cy="35087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C13CD8-E944-DE36-06DF-E9464B96D0D3}"/>
              </a:ext>
            </a:extLst>
          </p:cNvPr>
          <p:cNvSpPr txBox="1"/>
          <p:nvPr/>
        </p:nvSpPr>
        <p:spPr>
          <a:xfrm>
            <a:off x="2202075" y="3689486"/>
            <a:ext cx="297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Ch.Energy-1day evac. window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42E444-1666-482E-0910-5921BF6160E4}"/>
              </a:ext>
            </a:extLst>
          </p:cNvPr>
          <p:cNvSpPr txBox="1"/>
          <p:nvPr/>
        </p:nvSpPr>
        <p:spPr>
          <a:xfrm>
            <a:off x="6653809" y="4092843"/>
            <a:ext cx="948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3.3GWh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DC762A-43F5-72DE-CEE0-7420A08C9033}"/>
              </a:ext>
            </a:extLst>
          </p:cNvPr>
          <p:cNvSpPr txBox="1"/>
          <p:nvPr/>
        </p:nvSpPr>
        <p:spPr>
          <a:xfrm>
            <a:off x="8058625" y="3698715"/>
            <a:ext cx="1001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5.5 GWh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BEBD0B-0DAC-82CC-ED55-EC366D3CEFE1}"/>
              </a:ext>
            </a:extLst>
          </p:cNvPr>
          <p:cNvSpPr txBox="1"/>
          <p:nvPr/>
        </p:nvSpPr>
        <p:spPr>
          <a:xfrm>
            <a:off x="6657981" y="6357329"/>
            <a:ext cx="617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County energy generation: </a:t>
            </a:r>
          </a:p>
          <a:p>
            <a:r>
              <a:rPr lang="en-US" sz="1200" dirty="0"/>
              <a:t>CEC: https://ecdms.energy.ca.gov/elecbycounty.aspx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43DEB1-4C2C-EE09-DCF1-1D7F8F97007A}"/>
              </a:ext>
            </a:extLst>
          </p:cNvPr>
          <p:cNvSpPr txBox="1"/>
          <p:nvPr/>
        </p:nvSpPr>
        <p:spPr>
          <a:xfrm>
            <a:off x="1658532" y="5358198"/>
            <a:ext cx="8974368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 What if we need to evacuate and the grid is</a:t>
            </a:r>
            <a:r>
              <a:rPr lang="en-US" sz="2400" b="1" i="1" dirty="0">
                <a:solidFill>
                  <a:srgbClr val="FF0000"/>
                </a:solidFill>
              </a:rPr>
              <a:t> overloaded</a:t>
            </a:r>
            <a:r>
              <a:rPr lang="en-US" sz="2400" b="1" i="1" dirty="0"/>
              <a:t>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26AE6B-3A9F-60D3-E77A-A650A8F53BC7}"/>
              </a:ext>
            </a:extLst>
          </p:cNvPr>
          <p:cNvSpPr txBox="1"/>
          <p:nvPr/>
        </p:nvSpPr>
        <p:spPr>
          <a:xfrm>
            <a:off x="700277" y="3743016"/>
            <a:ext cx="1538938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SantaCruz</a:t>
            </a:r>
            <a:endParaRPr lang="en-US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8A9E4C5-69E2-E075-FF41-987571AAC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287" y="3725113"/>
            <a:ext cx="705381" cy="64895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82B51C1-91C3-F585-D656-36F5B4820233}"/>
              </a:ext>
            </a:extLst>
          </p:cNvPr>
          <p:cNvSpPr txBox="1"/>
          <p:nvPr/>
        </p:nvSpPr>
        <p:spPr>
          <a:xfrm>
            <a:off x="7345218" y="4365873"/>
            <a:ext cx="476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 Energy Demand &gt; Avg Energy Generation!</a:t>
            </a:r>
          </a:p>
        </p:txBody>
      </p:sp>
    </p:spTree>
    <p:extLst>
      <p:ext uri="{BB962C8B-B14F-4D97-AF65-F5344CB8AC3E}">
        <p14:creationId xmlns:p14="http://schemas.microsoft.com/office/powerpoint/2010/main" val="379528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6" grpId="0"/>
      <p:bldP spid="27" grpId="0" animBg="1"/>
      <p:bldP spid="28" grpId="0"/>
      <p:bldP spid="29" grpId="0" animBg="1"/>
      <p:bldP spid="30" grpId="0"/>
      <p:bldP spid="31" grpId="0"/>
      <p:bldP spid="32" grpId="0"/>
      <p:bldP spid="34" grpId="0" animBg="1"/>
      <p:bldP spid="36" grpId="0" animBg="1"/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1282EB8-7BB6-171C-CF28-F622C9E6BA09}"/>
              </a:ext>
            </a:extLst>
          </p:cNvPr>
          <p:cNvSpPr/>
          <p:nvPr/>
        </p:nvSpPr>
        <p:spPr>
          <a:xfrm>
            <a:off x="654677" y="3348037"/>
            <a:ext cx="5733931" cy="11888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122C7A-202E-8605-F2F8-32FA272BEECF}"/>
              </a:ext>
            </a:extLst>
          </p:cNvPr>
          <p:cNvSpPr/>
          <p:nvPr/>
        </p:nvSpPr>
        <p:spPr>
          <a:xfrm>
            <a:off x="654677" y="1109472"/>
            <a:ext cx="5733931" cy="21295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B07975-C74A-34CD-5E69-91A9DFD3E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9B8D12-EB77-A2C4-1A37-7D7C8448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Charging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88AAF-27E0-C3BD-505E-2A17179A0126}"/>
              </a:ext>
            </a:extLst>
          </p:cNvPr>
          <p:cNvSpPr txBox="1"/>
          <p:nvPr/>
        </p:nvSpPr>
        <p:spPr>
          <a:xfrm>
            <a:off x="7287868" y="1964161"/>
            <a:ext cx="4697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L1/L2 charge at home is good option if we have long time to evacuate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9E72F72-03E8-7531-097F-3296EB2631B5}"/>
              </a:ext>
            </a:extLst>
          </p:cNvPr>
          <p:cNvSpPr/>
          <p:nvPr/>
        </p:nvSpPr>
        <p:spPr>
          <a:xfrm>
            <a:off x="13362197" y="5366672"/>
            <a:ext cx="804672" cy="52425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BFAD2-F82B-855D-3EDD-3ABD4841DCE2}"/>
              </a:ext>
            </a:extLst>
          </p:cNvPr>
          <p:cNvSpPr txBox="1"/>
          <p:nvPr/>
        </p:nvSpPr>
        <p:spPr>
          <a:xfrm>
            <a:off x="7412306" y="3410505"/>
            <a:ext cx="44489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L3 Charging  more attractive for “quick” evacuations, but still 10x to 30x slower than gasoline vehicles</a:t>
            </a:r>
          </a:p>
        </p:txBody>
      </p:sp>
      <p:pic>
        <p:nvPicPr>
          <p:cNvPr id="5122" name="Picture 2" descr="Car, refuel, transport, transportation ...">
            <a:extLst>
              <a:ext uri="{FF2B5EF4-FFF2-40B4-BE49-F238E27FC236}">
                <a16:creationId xmlns:a16="http://schemas.microsoft.com/office/drawing/2014/main" id="{A9F35982-3150-7343-236B-966206A9C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315" y="4684100"/>
            <a:ext cx="1041159" cy="1041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918919-3FE5-A138-576C-DE50106ADD0B}"/>
              </a:ext>
            </a:extLst>
          </p:cNvPr>
          <p:cNvSpPr txBox="1"/>
          <p:nvPr/>
        </p:nvSpPr>
        <p:spPr>
          <a:xfrm>
            <a:off x="397596" y="4881513"/>
            <a:ext cx="1374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Gasoline Refuel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EFEEF7-B419-3390-E817-B024391EA5BD}"/>
              </a:ext>
            </a:extLst>
          </p:cNvPr>
          <p:cNvSpPr/>
          <p:nvPr/>
        </p:nvSpPr>
        <p:spPr>
          <a:xfrm>
            <a:off x="3224717" y="5034919"/>
            <a:ext cx="3163891" cy="4614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2ABA0E-1AFD-4833-24C8-0F255BA0DEDB}"/>
              </a:ext>
            </a:extLst>
          </p:cNvPr>
          <p:cNvSpPr txBox="1"/>
          <p:nvPr/>
        </p:nvSpPr>
        <p:spPr>
          <a:xfrm>
            <a:off x="3770058" y="5073649"/>
            <a:ext cx="2293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5000 miles of range /h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5C8EC6-B8E4-298E-9F28-8A0361255122}"/>
              </a:ext>
            </a:extLst>
          </p:cNvPr>
          <p:cNvSpPr txBox="1"/>
          <p:nvPr/>
        </p:nvSpPr>
        <p:spPr>
          <a:xfrm>
            <a:off x="654677" y="3574821"/>
            <a:ext cx="1031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Level 3</a:t>
            </a:r>
          </a:p>
          <a:p>
            <a:pPr algn="ctr"/>
            <a:r>
              <a:rPr lang="en-US" b="1" dirty="0"/>
              <a:t>(DC Fast)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B13000-6312-5E46-31A5-824D1C0CCD15}"/>
              </a:ext>
            </a:extLst>
          </p:cNvPr>
          <p:cNvSpPr/>
          <p:nvPr/>
        </p:nvSpPr>
        <p:spPr>
          <a:xfrm>
            <a:off x="3177337" y="3703066"/>
            <a:ext cx="707316" cy="4614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693579-008C-97A8-4005-EFD37A2C2563}"/>
              </a:ext>
            </a:extLst>
          </p:cNvPr>
          <p:cNvSpPr txBox="1"/>
          <p:nvPr/>
        </p:nvSpPr>
        <p:spPr>
          <a:xfrm>
            <a:off x="3872497" y="3735944"/>
            <a:ext cx="2503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150…350+ miles range/h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91094D-6774-E5AE-E21C-D3CFAFAA3F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315" t="68862" r="58769" b="9326"/>
          <a:stretch/>
        </p:blipFill>
        <p:spPr>
          <a:xfrm>
            <a:off x="1982769" y="3489960"/>
            <a:ext cx="1031822" cy="7941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7DB8EF-24F7-2320-4215-03D5FA2DF1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327" t="42507" r="59555" b="32689"/>
          <a:stretch/>
        </p:blipFill>
        <p:spPr>
          <a:xfrm>
            <a:off x="1923419" y="2105831"/>
            <a:ext cx="1091172" cy="9030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E7A9CBB-F942-9FBC-6E94-E0B12DB0A035}"/>
              </a:ext>
            </a:extLst>
          </p:cNvPr>
          <p:cNvSpPr txBox="1"/>
          <p:nvPr/>
        </p:nvSpPr>
        <p:spPr>
          <a:xfrm>
            <a:off x="808498" y="2382442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Level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B1C25F-2356-B3A7-BB85-9E8956A087E1}"/>
              </a:ext>
            </a:extLst>
          </p:cNvPr>
          <p:cNvSpPr/>
          <p:nvPr/>
        </p:nvSpPr>
        <p:spPr>
          <a:xfrm>
            <a:off x="3238968" y="2309135"/>
            <a:ext cx="107261" cy="46142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351B42-6917-EF55-4EEE-5F82B7646FA7}"/>
              </a:ext>
            </a:extLst>
          </p:cNvPr>
          <p:cNvSpPr txBox="1"/>
          <p:nvPr/>
        </p:nvSpPr>
        <p:spPr>
          <a:xfrm>
            <a:off x="3415550" y="2343224"/>
            <a:ext cx="239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10…30 miles of range/h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A16CD4-0C29-D7D4-74C2-C35AE9D283D2}"/>
              </a:ext>
            </a:extLst>
          </p:cNvPr>
          <p:cNvSpPr txBox="1"/>
          <p:nvPr/>
        </p:nvSpPr>
        <p:spPr>
          <a:xfrm>
            <a:off x="815945" y="1509964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Level 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FEEA4D3-C4F2-4C71-9BBE-923DF34D29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94" t="24230" r="58073" b="55667"/>
          <a:stretch/>
        </p:blipFill>
        <p:spPr>
          <a:xfrm>
            <a:off x="1929302" y="1315807"/>
            <a:ext cx="1121471" cy="73194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1F83CEA-E48F-A3BF-6901-7D75BB24C2A2}"/>
              </a:ext>
            </a:extLst>
          </p:cNvPr>
          <p:cNvSpPr/>
          <p:nvPr/>
        </p:nvSpPr>
        <p:spPr>
          <a:xfrm>
            <a:off x="3216495" y="1462228"/>
            <a:ext cx="45719" cy="461429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57B884-8E24-6006-5E7D-FAD189638128}"/>
              </a:ext>
            </a:extLst>
          </p:cNvPr>
          <p:cNvSpPr txBox="1"/>
          <p:nvPr/>
        </p:nvSpPr>
        <p:spPr>
          <a:xfrm>
            <a:off x="3378631" y="1529508"/>
            <a:ext cx="2165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3…5 miles of range/h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1F461C5-56E1-75A2-D3BB-0F31150B2A14}"/>
              </a:ext>
            </a:extLst>
          </p:cNvPr>
          <p:cNvSpPr/>
          <p:nvPr/>
        </p:nvSpPr>
        <p:spPr>
          <a:xfrm>
            <a:off x="6429781" y="2085183"/>
            <a:ext cx="763500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48AC511-2935-8FBB-4DC8-595A00CB125C}"/>
              </a:ext>
            </a:extLst>
          </p:cNvPr>
          <p:cNvSpPr/>
          <p:nvPr/>
        </p:nvSpPr>
        <p:spPr>
          <a:xfrm>
            <a:off x="6485965" y="3703128"/>
            <a:ext cx="707316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BD695D8-3C42-E366-0CE2-EC6709135190}"/>
              </a:ext>
            </a:extLst>
          </p:cNvPr>
          <p:cNvSpPr/>
          <p:nvPr/>
        </p:nvSpPr>
        <p:spPr>
          <a:xfrm rot="1924750">
            <a:off x="13951973" y="2489740"/>
            <a:ext cx="707316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ED5585-5B76-2060-4DAC-19BC466AD3F0}"/>
              </a:ext>
            </a:extLst>
          </p:cNvPr>
          <p:cNvSpPr txBox="1"/>
          <p:nvPr/>
        </p:nvSpPr>
        <p:spPr>
          <a:xfrm>
            <a:off x="13117679" y="3988117"/>
            <a:ext cx="3631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Likelihood of queuing at EV charging stations is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0E3EB5-DB03-4E56-CF3C-B43D3804E7A3}"/>
              </a:ext>
            </a:extLst>
          </p:cNvPr>
          <p:cNvSpPr txBox="1"/>
          <p:nvPr/>
        </p:nvSpPr>
        <p:spPr>
          <a:xfrm>
            <a:off x="6933949" y="4905574"/>
            <a:ext cx="4632960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3: How to minimize charging time/queuing during evacuation?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E7EAB1-09D3-1FC7-1D95-22A80EBD24D0}"/>
              </a:ext>
            </a:extLst>
          </p:cNvPr>
          <p:cNvSpPr txBox="1"/>
          <p:nvPr/>
        </p:nvSpPr>
        <p:spPr>
          <a:xfrm>
            <a:off x="508072" y="5870448"/>
            <a:ext cx="14526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Credits: City of Phoenix</a:t>
            </a:r>
          </a:p>
        </p:txBody>
      </p:sp>
    </p:spTree>
    <p:extLst>
      <p:ext uri="{BB962C8B-B14F-4D97-AF65-F5344CB8AC3E}">
        <p14:creationId xmlns:p14="http://schemas.microsoft.com/office/powerpoint/2010/main" val="370465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5" grpId="0" animBg="1"/>
      <p:bldP spid="8" grpId="0"/>
      <p:bldP spid="11" grpId="0"/>
      <p:bldP spid="15" grpId="0"/>
      <p:bldP spid="16" grpId="0" animBg="1"/>
      <p:bldP spid="17" grpId="0"/>
      <p:bldP spid="20" grpId="0"/>
      <p:bldP spid="21" grpId="0" animBg="1"/>
      <p:bldP spid="22" grpId="0"/>
      <p:bldP spid="23" grpId="0"/>
      <p:bldP spid="25" grpId="0" animBg="1"/>
      <p:bldP spid="26" grpId="0"/>
      <p:bldP spid="29" grpId="0" animBg="1"/>
      <p:bldP spid="31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9BFC3C-9B40-EE09-CA7A-4EDB169E8E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C3629A-1ADE-A6D2-9897-09205967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Public Policy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A0955-F054-6648-DD70-9740FBAB23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03901"/>
            <a:ext cx="10515600" cy="3998210"/>
          </a:xfrm>
        </p:spPr>
        <p:txBody>
          <a:bodyPr/>
          <a:lstStyle/>
          <a:p>
            <a:r>
              <a:rPr lang="en-US" sz="2200" dirty="0">
                <a:solidFill>
                  <a:srgbClr val="FF0000"/>
                </a:solidFill>
              </a:rPr>
              <a:t>“</a:t>
            </a:r>
            <a:r>
              <a:rPr lang="en-US" sz="22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When backup power becomes law” </a:t>
            </a:r>
            <a:r>
              <a:rPr lang="en-US" sz="2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(</a:t>
            </a:r>
            <a:r>
              <a:rPr lang="en-US" sz="2200" dirty="0"/>
              <a:t>Fla. Stat. § 526.143)</a:t>
            </a:r>
          </a:p>
          <a:p>
            <a:pPr lvl="1"/>
            <a:r>
              <a:rPr lang="en-US" sz="2200" i="1" dirty="0"/>
              <a:t>requires gas stations located along evacuation routes to have backup power to pump fuel so residents can evacuate before a storm</a:t>
            </a:r>
          </a:p>
          <a:p>
            <a:pPr lvl="1"/>
            <a:r>
              <a:rPr lang="en-US" sz="2200" i="1" dirty="0"/>
              <a:t>business must keep a written statement attesting to the periodic testing and ensured operational capacity of the equipment.</a:t>
            </a:r>
          </a:p>
          <a:p>
            <a:pPr lvl="1"/>
            <a:r>
              <a:rPr lang="en-US" sz="2200" i="1" dirty="0"/>
              <a:t>required documents must be made available, upon request, to the county emergency management office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4B909-661A-B445-B503-11A731DE537F}"/>
              </a:ext>
            </a:extLst>
          </p:cNvPr>
          <p:cNvSpPr txBox="1"/>
          <p:nvPr/>
        </p:nvSpPr>
        <p:spPr>
          <a:xfrm>
            <a:off x="609458" y="5817150"/>
            <a:ext cx="76005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Source: Hurricane Irma’s Effect on Florida’s Fuel Distribution System and Recommended Improvements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D95FC-96D1-3D33-F357-3DE6F85CBBC5}"/>
              </a:ext>
            </a:extLst>
          </p:cNvPr>
          <p:cNvSpPr txBox="1"/>
          <p:nvPr/>
        </p:nvSpPr>
        <p:spPr>
          <a:xfrm>
            <a:off x="1024128" y="4373254"/>
            <a:ext cx="9938792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4: Should we mandate Backup power in EV charging stations that are located along critical evacuation routes? </a:t>
            </a:r>
          </a:p>
        </p:txBody>
      </p:sp>
    </p:spTree>
    <p:extLst>
      <p:ext uri="{BB962C8B-B14F-4D97-AF65-F5344CB8AC3E}">
        <p14:creationId xmlns:p14="http://schemas.microsoft.com/office/powerpoint/2010/main" val="376938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11AA27-AD04-6FD2-0EE6-16A559A663D1}"/>
              </a:ext>
            </a:extLst>
          </p:cNvPr>
          <p:cNvSpPr/>
          <p:nvPr/>
        </p:nvSpPr>
        <p:spPr>
          <a:xfrm>
            <a:off x="4631587" y="1637876"/>
            <a:ext cx="6984474" cy="24172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F07131-F990-C2E2-39C4-19DB07077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379" y="2260204"/>
            <a:ext cx="2098179" cy="1670087"/>
          </a:xfrm>
          <a:prstGeom prst="rect">
            <a:avLst/>
          </a:prstGeom>
        </p:spPr>
      </p:pic>
      <p:pic>
        <p:nvPicPr>
          <p:cNvPr id="1034" name="Picture 10" descr="White papers | Seaclouds">
            <a:extLst>
              <a:ext uri="{FF2B5EF4-FFF2-40B4-BE49-F238E27FC236}">
                <a16:creationId xmlns:a16="http://schemas.microsoft.com/office/drawing/2014/main" id="{34C7E2B8-2FA7-3A3B-E313-AA36461B4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351" y="5025666"/>
            <a:ext cx="769080" cy="76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6E7D1B-C610-561F-521E-856061B4C778}"/>
              </a:ext>
            </a:extLst>
          </p:cNvPr>
          <p:cNvSpPr/>
          <p:nvPr/>
        </p:nvSpPr>
        <p:spPr>
          <a:xfrm>
            <a:off x="1386017" y="4559396"/>
            <a:ext cx="4395508" cy="1351721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639C8C-ECB7-4B9F-8241-EEF37C835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8F4DC7-0A70-9A49-83FC-27189D775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Outcomes/Objectives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56CFF-2D15-FFA5-3305-8DD4E826E67B}"/>
              </a:ext>
            </a:extLst>
          </p:cNvPr>
          <p:cNvSpPr/>
          <p:nvPr/>
        </p:nvSpPr>
        <p:spPr>
          <a:xfrm>
            <a:off x="841345" y="1467114"/>
            <a:ext cx="3254919" cy="28806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3219F5-3004-75AB-9806-5BA1AC8382B5}"/>
              </a:ext>
            </a:extLst>
          </p:cNvPr>
          <p:cNvSpPr/>
          <p:nvPr/>
        </p:nvSpPr>
        <p:spPr>
          <a:xfrm>
            <a:off x="6465533" y="4633108"/>
            <a:ext cx="4840186" cy="1363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7BEF89-9D28-3C2D-591B-202DD01F74A2}"/>
              </a:ext>
            </a:extLst>
          </p:cNvPr>
          <p:cNvSpPr txBox="1"/>
          <p:nvPr/>
        </p:nvSpPr>
        <p:spPr>
          <a:xfrm>
            <a:off x="12757717" y="1207914"/>
            <a:ext cx="39261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identify areas most vulnerable to disruption in charging/power/transportation networks during evacuation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44D1D3-431B-0D3E-6F94-F2334E3A6586}"/>
              </a:ext>
            </a:extLst>
          </p:cNvPr>
          <p:cNvSpPr txBox="1"/>
          <p:nvPr/>
        </p:nvSpPr>
        <p:spPr>
          <a:xfrm>
            <a:off x="2331431" y="5201476"/>
            <a:ext cx="31484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White paper to support effective ZEV evacuations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A450E3-4C1C-E4FA-54CB-FCB5848345BB}"/>
              </a:ext>
            </a:extLst>
          </p:cNvPr>
          <p:cNvSpPr txBox="1"/>
          <p:nvPr/>
        </p:nvSpPr>
        <p:spPr>
          <a:xfrm>
            <a:off x="6432212" y="5689156"/>
            <a:ext cx="48735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Factsheets, checklists, flowcharts, workshops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C16EF2-5395-0A48-7F18-27F6B98040EC}"/>
              </a:ext>
            </a:extLst>
          </p:cNvPr>
          <p:cNvSpPr txBox="1"/>
          <p:nvPr/>
        </p:nvSpPr>
        <p:spPr>
          <a:xfrm>
            <a:off x="12451475" y="2441537"/>
            <a:ext cx="4538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For optimal placing of mobile chargers, grid investments, energy storage, 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B435E6-4D9F-3137-6A5D-74DC230E7153}"/>
              </a:ext>
            </a:extLst>
          </p:cNvPr>
          <p:cNvSpPr txBox="1"/>
          <p:nvPr/>
        </p:nvSpPr>
        <p:spPr>
          <a:xfrm>
            <a:off x="12532393" y="3542965"/>
            <a:ext cx="3001709" cy="51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For optimal placing of mobile chargers, grid investments, energy storage, …</a:t>
            </a:r>
          </a:p>
        </p:txBody>
      </p:sp>
      <p:pic>
        <p:nvPicPr>
          <p:cNvPr id="1026" name="Picture 2" descr="Checklist - Free business and finance icons">
            <a:extLst>
              <a:ext uri="{FF2B5EF4-FFF2-40B4-BE49-F238E27FC236}">
                <a16:creationId xmlns:a16="http://schemas.microsoft.com/office/drawing/2014/main" id="{59488FCE-B37F-8335-932E-C6D15B110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825" y="5077294"/>
            <a:ext cx="544937" cy="544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low chart - Free seo and web icons">
            <a:extLst>
              <a:ext uri="{FF2B5EF4-FFF2-40B4-BE49-F238E27FC236}">
                <a16:creationId xmlns:a16="http://schemas.microsoft.com/office/drawing/2014/main" id="{A54FBD90-44C5-526A-D33D-80F8B0F09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305" y="5098054"/>
            <a:ext cx="511333" cy="51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acts - Free files and folders icons">
            <a:extLst>
              <a:ext uri="{FF2B5EF4-FFF2-40B4-BE49-F238E27FC236}">
                <a16:creationId xmlns:a16="http://schemas.microsoft.com/office/drawing/2014/main" id="{BA1E638B-10BC-21B7-41B9-E3EA4400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5311" y="5098054"/>
            <a:ext cx="511333" cy="51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roup Meeting Icon Vector Art, Icons ...">
            <a:extLst>
              <a:ext uri="{FF2B5EF4-FFF2-40B4-BE49-F238E27FC236}">
                <a16:creationId xmlns:a16="http://schemas.microsoft.com/office/drawing/2014/main" id="{D18D64D0-52C2-7716-0CD9-A9B5DDA43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8102" y="4991480"/>
            <a:ext cx="1076802" cy="71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17DC2CC-5472-1EA0-E3A1-4F647679C985}"/>
              </a:ext>
            </a:extLst>
          </p:cNvPr>
          <p:cNvSpPr txBox="1"/>
          <p:nvPr/>
        </p:nvSpPr>
        <p:spPr>
          <a:xfrm>
            <a:off x="4631586" y="2631418"/>
            <a:ext cx="15217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O2. planning investments and reduce vulnerabilities</a:t>
            </a:r>
            <a:endParaRPr lang="en-US" sz="1600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DD21B2-736D-F092-D314-FDE7316AF5F3}"/>
              </a:ext>
            </a:extLst>
          </p:cNvPr>
          <p:cNvSpPr txBox="1"/>
          <p:nvPr/>
        </p:nvSpPr>
        <p:spPr>
          <a:xfrm>
            <a:off x="8331100" y="2673170"/>
            <a:ext cx="15217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O3. Evacuation plans (route, charging scheduling)</a:t>
            </a:r>
            <a:endParaRPr lang="en-US" sz="1600" i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32D0F62-6097-FDA6-DB2A-044455F33F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2893" y="2276077"/>
            <a:ext cx="1521793" cy="176489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546877E-9E4B-F551-7E7C-F6CA37B54A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7769" y="3358234"/>
            <a:ext cx="2040461" cy="44545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B3D5788-5451-EA18-68DD-AE76829DB0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9479" y="2821481"/>
            <a:ext cx="2040461" cy="49227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1AC7CEB-2E52-3C9F-815A-D1919F8B1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7769" y="2409472"/>
            <a:ext cx="2040461" cy="45660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F5918E4-003D-514B-8243-74302EF60E31}"/>
              </a:ext>
            </a:extLst>
          </p:cNvPr>
          <p:cNvSpPr txBox="1"/>
          <p:nvPr/>
        </p:nvSpPr>
        <p:spPr>
          <a:xfrm>
            <a:off x="879201" y="2899582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Charging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4FD7C5-45B0-71C8-F6B4-176EEAF03A27}"/>
              </a:ext>
            </a:extLst>
          </p:cNvPr>
          <p:cNvSpPr txBox="1"/>
          <p:nvPr/>
        </p:nvSpPr>
        <p:spPr>
          <a:xfrm>
            <a:off x="976299" y="2432673"/>
            <a:ext cx="778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Power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3FC9B3-E6AE-5F28-E8ED-7D8B28F036F7}"/>
              </a:ext>
            </a:extLst>
          </p:cNvPr>
          <p:cNvSpPr txBox="1"/>
          <p:nvPr/>
        </p:nvSpPr>
        <p:spPr>
          <a:xfrm>
            <a:off x="980419" y="3394960"/>
            <a:ext cx="859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Transp.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67D5E6-49BC-E445-8242-87CA61046B34}"/>
              </a:ext>
            </a:extLst>
          </p:cNvPr>
          <p:cNvSpPr txBox="1"/>
          <p:nvPr/>
        </p:nvSpPr>
        <p:spPr>
          <a:xfrm>
            <a:off x="989754" y="3808748"/>
            <a:ext cx="846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Overall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B129EC7-491C-9051-1830-1B499EFAFF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51890" y="3816892"/>
            <a:ext cx="2078050" cy="385618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09A99EEE-9A97-6A50-76BF-2D8E806906AC}"/>
              </a:ext>
            </a:extLst>
          </p:cNvPr>
          <p:cNvSpPr/>
          <p:nvPr/>
        </p:nvSpPr>
        <p:spPr>
          <a:xfrm>
            <a:off x="835728" y="1440702"/>
            <a:ext cx="3254919" cy="622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O1. A new ZEV Evacuation Readiness Score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72E2BBF-76BA-257C-224C-C9A7DA0218D1}"/>
              </a:ext>
            </a:extLst>
          </p:cNvPr>
          <p:cNvSpPr/>
          <p:nvPr/>
        </p:nvSpPr>
        <p:spPr>
          <a:xfrm>
            <a:off x="4625970" y="1600202"/>
            <a:ext cx="6984474" cy="622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O2/O3: Decision Aid Tools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53A91E5-4A5B-2EBC-9994-2CFD7A67C720}"/>
              </a:ext>
            </a:extLst>
          </p:cNvPr>
          <p:cNvSpPr/>
          <p:nvPr/>
        </p:nvSpPr>
        <p:spPr>
          <a:xfrm>
            <a:off x="6456596" y="4475363"/>
            <a:ext cx="4849123" cy="50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O5. Resources/Education Materials/Outreach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556D4E-9537-00FB-3071-F3291225AA66}"/>
              </a:ext>
            </a:extLst>
          </p:cNvPr>
          <p:cNvSpPr/>
          <p:nvPr/>
        </p:nvSpPr>
        <p:spPr>
          <a:xfrm>
            <a:off x="1368235" y="4519858"/>
            <a:ext cx="4413290" cy="50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O4. Policy Recommendations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FAF5B1F-C984-B520-F2E8-A5BF6E565A86}"/>
              </a:ext>
            </a:extLst>
          </p:cNvPr>
          <p:cNvCxnSpPr/>
          <p:nvPr/>
        </p:nvCxnSpPr>
        <p:spPr>
          <a:xfrm>
            <a:off x="904063" y="3800466"/>
            <a:ext cx="318658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47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8" grpId="0" animBg="1"/>
      <p:bldP spid="14" grpId="0"/>
      <p:bldP spid="16" grpId="0"/>
      <p:bldP spid="27" grpId="0"/>
      <p:bldP spid="28" grpId="0"/>
      <p:bldP spid="47" grpId="0" animBg="1"/>
      <p:bldP spid="48" grpId="0" animBg="1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13C3BF-4578-6917-402C-5DDDDFE9D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26E054-B02A-8117-36F2-EEA71E95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&amp; Community Partners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73C618-A6A0-1910-F142-2FF81B8B8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064" y="949906"/>
            <a:ext cx="7410210" cy="495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07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CF797A-A990-019B-9806-7DAE8D602CF0}"/>
              </a:ext>
            </a:extLst>
          </p:cNvPr>
          <p:cNvCxnSpPr>
            <a:cxnSpLocks/>
          </p:cNvCxnSpPr>
          <p:nvPr/>
        </p:nvCxnSpPr>
        <p:spPr>
          <a:xfrm flipH="1">
            <a:off x="4689998" y="1856690"/>
            <a:ext cx="22179" cy="3264195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A2411-62A3-849D-5FAA-0A29EDC26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C7FE4A-EB8E-41B0-49EB-DDA4DA16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B4885-F6D3-458D-85C7-952BD603E2BF}"/>
              </a:ext>
            </a:extLst>
          </p:cNvPr>
          <p:cNvSpPr txBox="1"/>
          <p:nvPr/>
        </p:nvSpPr>
        <p:spPr>
          <a:xfrm>
            <a:off x="62058" y="2590009"/>
            <a:ext cx="1552284" cy="64633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Sep 2023:</a:t>
            </a:r>
          </a:p>
          <a:p>
            <a:pPr algn="ctr"/>
            <a:r>
              <a:rPr lang="en-US" b="1" i="1" dirty="0"/>
              <a:t>Project kickoff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119BD5-09F5-4125-6DF2-2658A7BC6FDE}"/>
              </a:ext>
            </a:extLst>
          </p:cNvPr>
          <p:cNvSpPr txBox="1"/>
          <p:nvPr/>
        </p:nvSpPr>
        <p:spPr>
          <a:xfrm>
            <a:off x="2377541" y="2728508"/>
            <a:ext cx="19039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Research: Sprint 1</a:t>
            </a:r>
            <a:endParaRPr lang="en-US" b="1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3CC052-0476-0931-6B84-89B7366532D3}"/>
              </a:ext>
            </a:extLst>
          </p:cNvPr>
          <p:cNvSpPr txBox="1"/>
          <p:nvPr/>
        </p:nvSpPr>
        <p:spPr>
          <a:xfrm>
            <a:off x="3370723" y="3647697"/>
            <a:ext cx="215334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April  2024:</a:t>
            </a:r>
          </a:p>
          <a:p>
            <a:pPr algn="ctr"/>
            <a:r>
              <a:rPr lang="en-US" b="1" i="1" dirty="0"/>
              <a:t>Meeting #1 with</a:t>
            </a:r>
          </a:p>
          <a:p>
            <a:pPr algn="ctr"/>
            <a:r>
              <a:rPr lang="en-US" b="1" i="1" dirty="0"/>
              <a:t>Community Partners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955DD03-0988-D9B4-4581-5CA6C550F2FD}"/>
              </a:ext>
            </a:extLst>
          </p:cNvPr>
          <p:cNvSpPr/>
          <p:nvPr/>
        </p:nvSpPr>
        <p:spPr>
          <a:xfrm>
            <a:off x="1614341" y="2712100"/>
            <a:ext cx="614627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8500A8-3649-9B1F-1E4B-CF51726D5AA0}"/>
              </a:ext>
            </a:extLst>
          </p:cNvPr>
          <p:cNvSpPr txBox="1"/>
          <p:nvPr/>
        </p:nvSpPr>
        <p:spPr>
          <a:xfrm>
            <a:off x="5096179" y="2728508"/>
            <a:ext cx="22828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Research: </a:t>
            </a:r>
            <a:r>
              <a:rPr lang="en-US" b="1" dirty="0"/>
              <a:t>Sprint</a:t>
            </a:r>
            <a:r>
              <a:rPr lang="en-US" b="1" i="1" dirty="0"/>
              <a:t>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BAE674-189B-721B-1803-35C8824FAAB9}"/>
              </a:ext>
            </a:extLst>
          </p:cNvPr>
          <p:cNvSpPr txBox="1"/>
          <p:nvPr/>
        </p:nvSpPr>
        <p:spPr>
          <a:xfrm>
            <a:off x="4317973" y="1445103"/>
            <a:ext cx="744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Today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7BAB6C-402C-FD85-08C0-0DD7BD309320}"/>
              </a:ext>
            </a:extLst>
          </p:cNvPr>
          <p:cNvSpPr txBox="1"/>
          <p:nvPr/>
        </p:nvSpPr>
        <p:spPr>
          <a:xfrm>
            <a:off x="10942832" y="2631230"/>
            <a:ext cx="1267143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July 2025:</a:t>
            </a:r>
          </a:p>
          <a:p>
            <a:pPr algn="ctr"/>
            <a:r>
              <a:rPr lang="en-US" b="1" i="1" dirty="0"/>
              <a:t>Project End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4E4291-E13D-E4FC-B649-7843C3E62B1F}"/>
              </a:ext>
            </a:extLst>
          </p:cNvPr>
          <p:cNvSpPr txBox="1"/>
          <p:nvPr/>
        </p:nvSpPr>
        <p:spPr>
          <a:xfrm>
            <a:off x="6573670" y="3683554"/>
            <a:ext cx="215334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Fall  2024:</a:t>
            </a:r>
          </a:p>
          <a:p>
            <a:pPr algn="ctr"/>
            <a:r>
              <a:rPr lang="en-US" b="1" i="1" dirty="0"/>
              <a:t>Meeting #2 with</a:t>
            </a:r>
          </a:p>
          <a:p>
            <a:pPr algn="ctr"/>
            <a:r>
              <a:rPr lang="en-US" b="1" i="1" dirty="0"/>
              <a:t>Community Partners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D43DFA-1D2C-677A-F860-CBA674746C0F}"/>
              </a:ext>
            </a:extLst>
          </p:cNvPr>
          <p:cNvSpPr txBox="1"/>
          <p:nvPr/>
        </p:nvSpPr>
        <p:spPr>
          <a:xfrm>
            <a:off x="9721173" y="3664294"/>
            <a:ext cx="215334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b="1" dirty="0"/>
              <a:t>Spring  2025:</a:t>
            </a:r>
          </a:p>
          <a:p>
            <a:pPr algn="ctr"/>
            <a:r>
              <a:rPr lang="en-US" b="1" i="1" dirty="0"/>
              <a:t>Meeting #3 with</a:t>
            </a:r>
          </a:p>
          <a:p>
            <a:pPr algn="ctr"/>
            <a:r>
              <a:rPr lang="en-US" b="1" i="1" dirty="0"/>
              <a:t>Community Partners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0AE453B-21B1-B0E5-2578-05571BB42957}"/>
              </a:ext>
            </a:extLst>
          </p:cNvPr>
          <p:cNvSpPr/>
          <p:nvPr/>
        </p:nvSpPr>
        <p:spPr>
          <a:xfrm rot="3464650">
            <a:off x="3318447" y="3197546"/>
            <a:ext cx="614627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F9887C60-F6BD-ECC2-B8A8-76C84137A73C}"/>
              </a:ext>
            </a:extLst>
          </p:cNvPr>
          <p:cNvSpPr/>
          <p:nvPr/>
        </p:nvSpPr>
        <p:spPr>
          <a:xfrm rot="19082500">
            <a:off x="5036056" y="3185579"/>
            <a:ext cx="614627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4BF064-9D89-DBC1-A594-C1AF4A056A8A}"/>
              </a:ext>
            </a:extLst>
          </p:cNvPr>
          <p:cNvSpPr txBox="1"/>
          <p:nvPr/>
        </p:nvSpPr>
        <p:spPr>
          <a:xfrm>
            <a:off x="1465546" y="3236340"/>
            <a:ext cx="1933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Preliminary results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2DE1EC-22EC-5BF9-5E06-55201E38DB8C}"/>
              </a:ext>
            </a:extLst>
          </p:cNvPr>
          <p:cNvSpPr txBox="1"/>
          <p:nvPr/>
        </p:nvSpPr>
        <p:spPr>
          <a:xfrm>
            <a:off x="7984259" y="2735944"/>
            <a:ext cx="228281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Research: </a:t>
            </a:r>
            <a:r>
              <a:rPr lang="en-US" b="1" dirty="0"/>
              <a:t>Sprint</a:t>
            </a:r>
            <a:r>
              <a:rPr lang="en-US" b="1" i="1" dirty="0"/>
              <a:t> 3</a:t>
            </a:r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DB7C37FE-4F69-DD56-6DD8-DA3F4F3C6B60}"/>
              </a:ext>
            </a:extLst>
          </p:cNvPr>
          <p:cNvSpPr/>
          <p:nvPr/>
        </p:nvSpPr>
        <p:spPr>
          <a:xfrm rot="3084208">
            <a:off x="6759764" y="3185580"/>
            <a:ext cx="614627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5797A33A-F28F-6D23-B320-B10418DC4338}"/>
              </a:ext>
            </a:extLst>
          </p:cNvPr>
          <p:cNvSpPr/>
          <p:nvPr/>
        </p:nvSpPr>
        <p:spPr>
          <a:xfrm rot="19082500">
            <a:off x="8120508" y="3196208"/>
            <a:ext cx="614627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E318664B-F3CC-08E9-C210-F87C9E6B4111}"/>
              </a:ext>
            </a:extLst>
          </p:cNvPr>
          <p:cNvSpPr/>
          <p:nvPr/>
        </p:nvSpPr>
        <p:spPr>
          <a:xfrm rot="3084208">
            <a:off x="9607073" y="3206837"/>
            <a:ext cx="614627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D7A9BC-5D71-A760-CC6F-4417EE5962AC}"/>
              </a:ext>
            </a:extLst>
          </p:cNvPr>
          <p:cNvSpPr txBox="1"/>
          <p:nvPr/>
        </p:nvSpPr>
        <p:spPr>
          <a:xfrm>
            <a:off x="2190943" y="5250304"/>
            <a:ext cx="6129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Share with community partners progress of the research team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BD56D54-0D07-8BCD-30D0-E70E02EBC99F}"/>
              </a:ext>
            </a:extLst>
          </p:cNvPr>
          <p:cNvSpPr/>
          <p:nvPr/>
        </p:nvSpPr>
        <p:spPr>
          <a:xfrm rot="19082500">
            <a:off x="10587130" y="3185579"/>
            <a:ext cx="614627" cy="4021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4" grpId="0" animBg="1"/>
      <p:bldP spid="45" grpId="0" animBg="1"/>
      <p:bldP spid="46" grpId="0" animBg="1"/>
      <p:bldP spid="49" grpId="0" animBg="1"/>
      <p:bldP spid="51" grpId="0" animBg="1"/>
      <p:bldP spid="54" grpId="0" animBg="1"/>
      <p:bldP spid="55" grpId="0" animBg="1"/>
      <p:bldP spid="56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D8A244-21A8-D9B5-61A2-175E972E6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605CFB-5E01-48C6-86DE-4C3CE0A0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for the 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75814-05E1-FB46-E2A4-28D51CE4E2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637415"/>
            <a:ext cx="11147455" cy="3998210"/>
          </a:xfrm>
        </p:spPr>
        <p:txBody>
          <a:bodyPr/>
          <a:lstStyle/>
          <a:p>
            <a:r>
              <a:rPr lang="en-US" sz="2500" dirty="0"/>
              <a:t>Share with community partners progress of the research team</a:t>
            </a:r>
          </a:p>
          <a:p>
            <a:r>
              <a:rPr lang="en-US" sz="2500" dirty="0"/>
              <a:t>Collect feedback from partners. Some questions:</a:t>
            </a:r>
          </a:p>
          <a:p>
            <a:pPr lvl="1"/>
            <a:endParaRPr lang="en-US" sz="2500" dirty="0"/>
          </a:p>
          <a:p>
            <a:pPr lvl="1"/>
            <a:r>
              <a:rPr lang="en-US" sz="2500" dirty="0"/>
              <a:t>Do you think the goals are sound and have practical relevance?</a:t>
            </a:r>
          </a:p>
          <a:p>
            <a:pPr lvl="1"/>
            <a:endParaRPr lang="en-US" sz="2500" dirty="0"/>
          </a:p>
          <a:p>
            <a:pPr lvl="1"/>
            <a:r>
              <a:rPr lang="en-US" sz="2500" dirty="0"/>
              <a:t>Are you aware of other EV challenges during evacuations that we overlooked? </a:t>
            </a:r>
          </a:p>
          <a:p>
            <a:pPr lvl="1"/>
            <a:endParaRPr lang="en-US" sz="2500" dirty="0"/>
          </a:p>
          <a:p>
            <a:pPr lvl="1"/>
            <a:r>
              <a:rPr lang="en-US" sz="2500"/>
              <a:t>We </a:t>
            </a:r>
            <a:r>
              <a:rPr lang="en-US" sz="2500" dirty="0"/>
              <a:t>would like to build evacuation use cases for Central Valley/Sierra Nevada/Sacramento/Bay Area/Santa Cruz. Are you available to help us create these use cases? </a:t>
            </a:r>
          </a:p>
          <a:p>
            <a:pPr marL="457200" lvl="1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83505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AC8E95-FC19-DF90-37D3-06089323C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D22FAA-E4C4-D6FC-AA0A-E5EE4797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CC4BC9-7CC6-691A-F790-6FD6AD3CA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676761"/>
              </p:ext>
            </p:extLst>
          </p:nvPr>
        </p:nvGraphicFramePr>
        <p:xfrm>
          <a:off x="1329822" y="1024630"/>
          <a:ext cx="10005865" cy="428365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454273">
                  <a:extLst>
                    <a:ext uri="{9D8B030D-6E8A-4147-A177-3AD203B41FA5}">
                      <a16:colId xmlns:a16="http://schemas.microsoft.com/office/drawing/2014/main" val="642639395"/>
                    </a:ext>
                  </a:extLst>
                </a:gridCol>
                <a:gridCol w="4702446">
                  <a:extLst>
                    <a:ext uri="{9D8B030D-6E8A-4147-A177-3AD203B41FA5}">
                      <a16:colId xmlns:a16="http://schemas.microsoft.com/office/drawing/2014/main" val="3706713554"/>
                    </a:ext>
                  </a:extLst>
                </a:gridCol>
                <a:gridCol w="3849146">
                  <a:extLst>
                    <a:ext uri="{9D8B030D-6E8A-4147-A177-3AD203B41FA5}">
                      <a16:colId xmlns:a16="http://schemas.microsoft.com/office/drawing/2014/main" val="1576717099"/>
                    </a:ext>
                  </a:extLst>
                </a:gridCol>
              </a:tblGrid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Time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Description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Presenter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9813068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11:00- 11:30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Round of Introductions (1min each)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-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677170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11:30-11:45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Project Overview 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Ricardo de </a:t>
                      </a:r>
                      <a:r>
                        <a:rPr lang="en-US" sz="1600" kern="100" dirty="0" err="1">
                          <a:effectLst/>
                        </a:rPr>
                        <a:t>Casto</a:t>
                      </a:r>
                      <a:r>
                        <a:rPr lang="en-US" sz="1600" kern="100" dirty="0">
                          <a:effectLst/>
                        </a:rPr>
                        <a:t>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82791"/>
                  </a:ext>
                </a:extLst>
              </a:tr>
              <a:tr h="2457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11:45-12:05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</a:rPr>
                        <a:t>Readiness for EV-based evacuation </a:t>
                      </a:r>
                      <a:endParaRPr lang="en-US" sz="16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Keith Corzine, Osman Saleem (UCSC)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502915"/>
                  </a:ext>
                </a:extLst>
              </a:tr>
              <a:tr h="220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12:05-12:30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Planning Infrastructure Investments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Keith Corzine, </a:t>
                      </a:r>
                      <a:r>
                        <a:rPr lang="en-US" sz="1600" kern="100" dirty="0" err="1">
                          <a:effectLst/>
                        </a:rPr>
                        <a:t>Saheed</a:t>
                      </a: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err="1">
                          <a:effectLst/>
                        </a:rPr>
                        <a:t>Lakeh</a:t>
                      </a:r>
                      <a:r>
                        <a:rPr lang="en-US" sz="1600" kern="100" dirty="0">
                          <a:effectLst/>
                        </a:rPr>
                        <a:t>  (UCSC)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2675136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12:30-13:25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Lunch</a:t>
                      </a:r>
                      <a:endParaRPr lang="en-US" sz="16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-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8787044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13:25-13:30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Group Photo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-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518738"/>
                  </a:ext>
                </a:extLst>
              </a:tr>
              <a:tr h="2391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13:30-14:00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>
                          <a:effectLst/>
                        </a:rPr>
                        <a:t>Minimizing Evacuation Time via Optimization Tools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 </a:t>
                      </a:r>
                      <a:r>
                        <a:rPr lang="en-US" sz="1600" kern="100" dirty="0" err="1">
                          <a:effectLst/>
                        </a:rPr>
                        <a:t>Xuchang</a:t>
                      </a:r>
                      <a:r>
                        <a:rPr lang="en-US" sz="1600" kern="100" dirty="0">
                          <a:effectLst/>
                        </a:rPr>
                        <a:t>  Tang (UCD), Shuang Feng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3174572"/>
                  </a:ext>
                </a:extLst>
              </a:tr>
              <a:tr h="2140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14:00-14:20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Definition of  use cases for Merced/Mariposa evacuations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 err="1">
                          <a:effectLst/>
                        </a:rPr>
                        <a:t>Qijian</a:t>
                      </a:r>
                      <a:r>
                        <a:rPr lang="en-US" sz="1600" kern="100" dirty="0">
                          <a:effectLst/>
                        </a:rPr>
                        <a:t> Gan(UCB)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9520911"/>
                  </a:ext>
                </a:extLst>
              </a:tr>
              <a:tr h="3891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14:20:14:40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Potential Public Policy Implications for effective EV-based evacuations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S. Markolf (UCM)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2284062"/>
                  </a:ext>
                </a:extLst>
              </a:tr>
              <a:tr h="217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14:40-15:00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kern="100" dirty="0">
                          <a:effectLst/>
                        </a:rPr>
                        <a:t>Conclusion &amp; Next Steps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42073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B8D8DA1-5525-BB25-8BD8-B58F447F9705}"/>
              </a:ext>
            </a:extLst>
          </p:cNvPr>
          <p:cNvSpPr txBox="1"/>
          <p:nvPr/>
        </p:nvSpPr>
        <p:spPr>
          <a:xfrm>
            <a:off x="1556426" y="5833370"/>
            <a:ext cx="3364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*10 min presenting + 10 min Q&amp;A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C80D5B-2A2E-CD69-17C9-09585E198D03}"/>
              </a:ext>
            </a:extLst>
          </p:cNvPr>
          <p:cNvSpPr/>
          <p:nvPr/>
        </p:nvSpPr>
        <p:spPr>
          <a:xfrm>
            <a:off x="1329822" y="1916341"/>
            <a:ext cx="10282137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53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A696E6-F565-065E-E9DC-9568C15AB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CA2997-7FD1-3366-7FF7-178DDC9F3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C43C4-1C48-999D-52B4-6BABBB2D18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408619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BC44-05D4-F7F0-ED2B-2811D16B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736" y="3762"/>
            <a:ext cx="10515600" cy="1325563"/>
          </a:xfrm>
        </p:spPr>
        <p:txBody>
          <a:bodyPr/>
          <a:lstStyle/>
          <a:p>
            <a:r>
              <a:rPr lang="en-US" dirty="0" err="1"/>
              <a:t>Readness</a:t>
            </a:r>
            <a:r>
              <a:rPr lang="en-US" dirty="0"/>
              <a:t> Score: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B20FB4-DE7E-0865-FEFD-3B841EC3BAD8}"/>
              </a:ext>
            </a:extLst>
          </p:cNvPr>
          <p:cNvSpPr/>
          <p:nvPr/>
        </p:nvSpPr>
        <p:spPr>
          <a:xfrm>
            <a:off x="3836511" y="1866109"/>
            <a:ext cx="2774440" cy="4037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Exposure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ED5B82-8192-A638-B609-2CAC814CE6A1}"/>
              </a:ext>
            </a:extLst>
          </p:cNvPr>
          <p:cNvSpPr/>
          <p:nvPr/>
        </p:nvSpPr>
        <p:spPr>
          <a:xfrm>
            <a:off x="3784807" y="3288951"/>
            <a:ext cx="2774441" cy="49329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Infrastructure Vulnerability Assessment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69273-6EE4-B175-CFEE-5EE3DF4B54FE}"/>
              </a:ext>
            </a:extLst>
          </p:cNvPr>
          <p:cNvSpPr/>
          <p:nvPr/>
        </p:nvSpPr>
        <p:spPr>
          <a:xfrm>
            <a:off x="3793594" y="4932017"/>
            <a:ext cx="3030934" cy="49329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Adaptive Capacity of Infrastructure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5A1DBC-3E19-1D58-4252-8FE8F1A48D95}"/>
              </a:ext>
            </a:extLst>
          </p:cNvPr>
          <p:cNvSpPr/>
          <p:nvPr/>
        </p:nvSpPr>
        <p:spPr>
          <a:xfrm>
            <a:off x="4074436" y="2265853"/>
            <a:ext cx="2279954" cy="3640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Hazard maps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859E2F-EEFA-5202-3FD5-F87540730149}"/>
              </a:ext>
            </a:extLst>
          </p:cNvPr>
          <p:cNvSpPr/>
          <p:nvPr/>
        </p:nvSpPr>
        <p:spPr>
          <a:xfrm>
            <a:off x="4075801" y="2638026"/>
            <a:ext cx="2278590" cy="4932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Chances of different Natural Hazards to occur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B6B388-57A2-4BE1-2580-46CD281B39C0}"/>
              </a:ext>
            </a:extLst>
          </p:cNvPr>
          <p:cNvSpPr/>
          <p:nvPr/>
        </p:nvSpPr>
        <p:spPr>
          <a:xfrm>
            <a:off x="3983742" y="5420270"/>
            <a:ext cx="2461341" cy="33679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Transportation Infrastructure Assessment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886C6-6C0C-FB04-D1A1-E5679AF1AEC4}"/>
              </a:ext>
            </a:extLst>
          </p:cNvPr>
          <p:cNvSpPr/>
          <p:nvPr/>
        </p:nvSpPr>
        <p:spPr>
          <a:xfrm>
            <a:off x="4025796" y="5752021"/>
            <a:ext cx="2379141" cy="4932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Charging Stations Capacity to cope with huge influx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3B96C9-8EFE-3BF9-95DE-7C2CF18143C4}"/>
              </a:ext>
            </a:extLst>
          </p:cNvPr>
          <p:cNvSpPr/>
          <p:nvPr/>
        </p:nvSpPr>
        <p:spPr>
          <a:xfrm>
            <a:off x="4024842" y="6258190"/>
            <a:ext cx="2379140" cy="313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Excess Generation of Electricity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360E57-D8B1-BFB0-BE59-61479C467B1B}"/>
              </a:ext>
            </a:extLst>
          </p:cNvPr>
          <p:cNvSpPr/>
          <p:nvPr/>
        </p:nvSpPr>
        <p:spPr>
          <a:xfrm>
            <a:off x="4150752" y="3781917"/>
            <a:ext cx="2223094" cy="342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Probability of a blackout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D23DF5-2E09-956B-CC6E-DF919BCB56F8}"/>
              </a:ext>
            </a:extLst>
          </p:cNvPr>
          <p:cNvSpPr/>
          <p:nvPr/>
        </p:nvSpPr>
        <p:spPr>
          <a:xfrm>
            <a:off x="4150752" y="4140639"/>
            <a:ext cx="2222595" cy="342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Charging stations per vehicle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6AEF9A-A738-8A5F-725C-1384A824B46B}"/>
              </a:ext>
            </a:extLst>
          </p:cNvPr>
          <p:cNvSpPr/>
          <p:nvPr/>
        </p:nvSpPr>
        <p:spPr>
          <a:xfrm>
            <a:off x="4150752" y="4497416"/>
            <a:ext cx="2222594" cy="342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Evacuation Location/Distance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8B3DEF1-0814-1B18-8A77-163CED69DA2F}"/>
              </a:ext>
            </a:extLst>
          </p:cNvPr>
          <p:cNvCxnSpPr/>
          <p:nvPr/>
        </p:nvCxnSpPr>
        <p:spPr>
          <a:xfrm>
            <a:off x="7354111" y="1498469"/>
            <a:ext cx="0" cy="516538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D2FA1BD-75F2-6B4E-EEED-E41A4778A4C1}"/>
              </a:ext>
            </a:extLst>
          </p:cNvPr>
          <p:cNvSpPr/>
          <p:nvPr/>
        </p:nvSpPr>
        <p:spPr>
          <a:xfrm>
            <a:off x="8352945" y="3056153"/>
            <a:ext cx="2068049" cy="19686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tx1"/>
                </a:solidFill>
              </a:rPr>
              <a:t>Scoring Formula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(e.g. AHP, Fuzzy logic, or  … 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F78428-5651-4ABA-3C89-D4C4DFFE5508}"/>
              </a:ext>
            </a:extLst>
          </p:cNvPr>
          <p:cNvSpPr/>
          <p:nvPr/>
        </p:nvSpPr>
        <p:spPr>
          <a:xfrm>
            <a:off x="155644" y="1215993"/>
            <a:ext cx="2984453" cy="537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Data  Sources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82AF06-EBC7-89C0-2D5E-50FF5087CC9B}"/>
              </a:ext>
            </a:extLst>
          </p:cNvPr>
          <p:cNvSpPr/>
          <p:nvPr/>
        </p:nvSpPr>
        <p:spPr>
          <a:xfrm>
            <a:off x="443216" y="2456023"/>
            <a:ext cx="2279954" cy="3640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County hazard analysis report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6F64857-0228-B0AE-1D38-7EDA01B0E07E}"/>
              </a:ext>
            </a:extLst>
          </p:cNvPr>
          <p:cNvCxnSpPr/>
          <p:nvPr/>
        </p:nvCxnSpPr>
        <p:spPr>
          <a:xfrm>
            <a:off x="3413584" y="1595535"/>
            <a:ext cx="0" cy="516538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71763EE5-73A8-C722-757F-91282F49082D}"/>
              </a:ext>
            </a:extLst>
          </p:cNvPr>
          <p:cNvSpPr/>
          <p:nvPr/>
        </p:nvSpPr>
        <p:spPr>
          <a:xfrm>
            <a:off x="3725984" y="1204990"/>
            <a:ext cx="3359060" cy="537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Indicators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BF00150-5E1B-6F93-7314-BC8DACCE7044}"/>
              </a:ext>
            </a:extLst>
          </p:cNvPr>
          <p:cNvSpPr/>
          <p:nvPr/>
        </p:nvSpPr>
        <p:spPr>
          <a:xfrm>
            <a:off x="7815666" y="1215992"/>
            <a:ext cx="3142608" cy="5371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Readiness Formula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89A00F0-BF5D-0ED6-E606-D3A6020AF631}"/>
              </a:ext>
            </a:extLst>
          </p:cNvPr>
          <p:cNvCxnSpPr>
            <a:cxnSpLocks/>
            <a:endCxn id="33" idx="2"/>
          </p:cNvCxnSpPr>
          <p:nvPr/>
        </p:nvCxnSpPr>
        <p:spPr>
          <a:xfrm flipV="1">
            <a:off x="9386970" y="5024782"/>
            <a:ext cx="0" cy="3292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7703E7F-3D0E-BA02-A2BF-32BE7976EC0F}"/>
              </a:ext>
            </a:extLst>
          </p:cNvPr>
          <p:cNvSpPr txBox="1"/>
          <p:nvPr/>
        </p:nvSpPr>
        <p:spPr>
          <a:xfrm>
            <a:off x="8352945" y="5434786"/>
            <a:ext cx="21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Weights from experts</a:t>
            </a:r>
          </a:p>
        </p:txBody>
      </p:sp>
      <p:pic>
        <p:nvPicPr>
          <p:cNvPr id="55" name="Graphic 54" descr="Questions with solid fill">
            <a:extLst>
              <a:ext uri="{FF2B5EF4-FFF2-40B4-BE49-F238E27FC236}">
                <a16:creationId xmlns:a16="http://schemas.microsoft.com/office/drawing/2014/main" id="{42D31F1B-85A8-FD67-D9C3-BECF73ABC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3879" y="5763997"/>
            <a:ext cx="914400" cy="9144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6A1D4E00-09AA-2CBC-CF0D-C175549C2535}"/>
              </a:ext>
            </a:extLst>
          </p:cNvPr>
          <p:cNvSpPr/>
          <p:nvPr/>
        </p:nvSpPr>
        <p:spPr>
          <a:xfrm>
            <a:off x="475266" y="3424247"/>
            <a:ext cx="2279954" cy="4194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???DoE  data???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4E96440-707F-8F12-110E-E85E4F7C7739}"/>
              </a:ext>
            </a:extLst>
          </p:cNvPr>
          <p:cNvCxnSpPr>
            <a:stCxn id="46" idx="3"/>
            <a:endCxn id="8" idx="1"/>
          </p:cNvCxnSpPr>
          <p:nvPr/>
        </p:nvCxnSpPr>
        <p:spPr>
          <a:xfrm flipV="1">
            <a:off x="2723170" y="2447856"/>
            <a:ext cx="1351266" cy="190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A2D6202-96C8-3ADD-9363-49DCAC22659D}"/>
              </a:ext>
            </a:extLst>
          </p:cNvPr>
          <p:cNvCxnSpPr>
            <a:cxnSpLocks/>
            <a:stCxn id="46" idx="3"/>
            <a:endCxn id="9" idx="1"/>
          </p:cNvCxnSpPr>
          <p:nvPr/>
        </p:nvCxnSpPr>
        <p:spPr>
          <a:xfrm>
            <a:off x="2723170" y="2638026"/>
            <a:ext cx="1352631" cy="246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43CCED0-6B22-027D-6B04-9D203E3C8F67}"/>
              </a:ext>
            </a:extLst>
          </p:cNvPr>
          <p:cNvCxnSpPr>
            <a:cxnSpLocks/>
            <a:stCxn id="56" idx="3"/>
            <a:endCxn id="14" idx="1"/>
          </p:cNvCxnSpPr>
          <p:nvPr/>
        </p:nvCxnSpPr>
        <p:spPr>
          <a:xfrm>
            <a:off x="2755220" y="3633954"/>
            <a:ext cx="1395532" cy="319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212C1F32-A541-19BE-56B4-8954D9023497}"/>
              </a:ext>
            </a:extLst>
          </p:cNvPr>
          <p:cNvSpPr/>
          <p:nvPr/>
        </p:nvSpPr>
        <p:spPr>
          <a:xfrm>
            <a:off x="495067" y="4015063"/>
            <a:ext cx="2279954" cy="3640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CEC Dashboard/DMV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(or https://afdc.energy.gov/)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F9DC74C-1CD3-7D6F-1EA9-384867442A20}"/>
              </a:ext>
            </a:extLst>
          </p:cNvPr>
          <p:cNvCxnSpPr>
            <a:cxnSpLocks/>
            <a:stCxn id="76" idx="3"/>
            <a:endCxn id="15" idx="1"/>
          </p:cNvCxnSpPr>
          <p:nvPr/>
        </p:nvCxnSpPr>
        <p:spPr>
          <a:xfrm>
            <a:off x="2775021" y="4197066"/>
            <a:ext cx="1375731" cy="114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1447EE1F-A9CF-39C5-2C89-00C3FCC0759E}"/>
              </a:ext>
            </a:extLst>
          </p:cNvPr>
          <p:cNvSpPr/>
          <p:nvPr/>
        </p:nvSpPr>
        <p:spPr>
          <a:xfrm>
            <a:off x="483170" y="4483115"/>
            <a:ext cx="2279954" cy="3640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??County emergency response plan???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16D40DF-376C-B642-C5F7-FEFED61EE52F}"/>
              </a:ext>
            </a:extLst>
          </p:cNvPr>
          <p:cNvCxnSpPr>
            <a:cxnSpLocks/>
            <a:stCxn id="84" idx="3"/>
            <a:endCxn id="16" idx="1"/>
          </p:cNvCxnSpPr>
          <p:nvPr/>
        </p:nvCxnSpPr>
        <p:spPr>
          <a:xfrm>
            <a:off x="2763124" y="4665118"/>
            <a:ext cx="1387628" cy="3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92BA5EC-1A1C-80CF-38EE-CFA17A9645B5}"/>
              </a:ext>
            </a:extLst>
          </p:cNvPr>
          <p:cNvCxnSpPr>
            <a:cxnSpLocks/>
          </p:cNvCxnSpPr>
          <p:nvPr/>
        </p:nvCxnSpPr>
        <p:spPr>
          <a:xfrm>
            <a:off x="6373346" y="2482310"/>
            <a:ext cx="1979599" cy="864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D47B622-1AD8-C317-241D-FADFC89D0B97}"/>
              </a:ext>
            </a:extLst>
          </p:cNvPr>
          <p:cNvCxnSpPr>
            <a:cxnSpLocks/>
          </p:cNvCxnSpPr>
          <p:nvPr/>
        </p:nvCxnSpPr>
        <p:spPr>
          <a:xfrm>
            <a:off x="6363868" y="2901102"/>
            <a:ext cx="1979598" cy="671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898103E-FA81-219F-D74A-8C9C9DA3D89F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373846" y="3714115"/>
            <a:ext cx="1943192" cy="239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66D00C0-0402-4256-486C-1A40C2366BBD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373347" y="3953319"/>
            <a:ext cx="1979598" cy="358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03F30DC-6999-64EF-68D2-4070B441511C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373346" y="4145127"/>
            <a:ext cx="1979599" cy="523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B27245D-9378-E3A0-2A1E-EA606926F4A7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10420994" y="4040467"/>
            <a:ext cx="15573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A4EE18C-49CA-6772-9C14-6E195D6BC65F}"/>
              </a:ext>
            </a:extLst>
          </p:cNvPr>
          <p:cNvSpPr txBox="1"/>
          <p:nvPr/>
        </p:nvSpPr>
        <p:spPr>
          <a:xfrm>
            <a:off x="10605537" y="3655535"/>
            <a:ext cx="128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Score (1…5)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7A6F88A-44A3-D998-A461-435D625E07A3}"/>
              </a:ext>
            </a:extLst>
          </p:cNvPr>
          <p:cNvSpPr/>
          <p:nvPr/>
        </p:nvSpPr>
        <p:spPr>
          <a:xfrm>
            <a:off x="464431" y="5122570"/>
            <a:ext cx="2279954" cy="3640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???Data sources???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0FE2894-E86C-D8FF-7B23-4313E5F3DB21}"/>
              </a:ext>
            </a:extLst>
          </p:cNvPr>
          <p:cNvCxnSpPr>
            <a:cxnSpLocks/>
            <a:stCxn id="106" idx="3"/>
            <a:endCxn id="11" idx="1"/>
          </p:cNvCxnSpPr>
          <p:nvPr/>
        </p:nvCxnSpPr>
        <p:spPr>
          <a:xfrm>
            <a:off x="2744385" y="5304573"/>
            <a:ext cx="1239357" cy="284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E9A6202-CF0F-B858-FC08-411FFD26182D}"/>
              </a:ext>
            </a:extLst>
          </p:cNvPr>
          <p:cNvCxnSpPr>
            <a:cxnSpLocks/>
            <a:stCxn id="167" idx="3"/>
            <a:endCxn id="13" idx="1"/>
          </p:cNvCxnSpPr>
          <p:nvPr/>
        </p:nvCxnSpPr>
        <p:spPr>
          <a:xfrm>
            <a:off x="2733776" y="5883039"/>
            <a:ext cx="1291066" cy="532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4C06EF2-7FD4-0AA9-DE22-EF6EB506F3A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445083" y="4279151"/>
            <a:ext cx="1938498" cy="1309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84E90AC-90ED-7865-88F5-9981FA888041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6404937" y="4483115"/>
            <a:ext cx="1948008" cy="1515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DC0A8EB-D911-0E25-6A1E-06F9CDDA1EA9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6403982" y="4726136"/>
            <a:ext cx="1970490" cy="1688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E7DC50A1-5C41-DD31-A373-08A31A48C285}"/>
              </a:ext>
            </a:extLst>
          </p:cNvPr>
          <p:cNvSpPr/>
          <p:nvPr/>
        </p:nvSpPr>
        <p:spPr>
          <a:xfrm>
            <a:off x="3089829" y="1337493"/>
            <a:ext cx="746682" cy="3016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F765F911-EB0B-33EE-7C6D-49B9296BDD50}"/>
              </a:ext>
            </a:extLst>
          </p:cNvPr>
          <p:cNvSpPr/>
          <p:nvPr/>
        </p:nvSpPr>
        <p:spPr>
          <a:xfrm>
            <a:off x="7077014" y="1318287"/>
            <a:ext cx="746682" cy="27724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3 Stars Is the New 5 stars">
            <a:extLst>
              <a:ext uri="{FF2B5EF4-FFF2-40B4-BE49-F238E27FC236}">
                <a16:creationId xmlns:a16="http://schemas.microsoft.com/office/drawing/2014/main" id="{363481C1-35F0-0378-E15D-DCDBE2112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779" y="4167647"/>
            <a:ext cx="1458235" cy="27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7" name="Rectangle 166">
            <a:extLst>
              <a:ext uri="{FF2B5EF4-FFF2-40B4-BE49-F238E27FC236}">
                <a16:creationId xmlns:a16="http://schemas.microsoft.com/office/drawing/2014/main" id="{38B0BED5-F507-9AD8-A092-F0938D457440}"/>
              </a:ext>
            </a:extLst>
          </p:cNvPr>
          <p:cNvSpPr/>
          <p:nvPr/>
        </p:nvSpPr>
        <p:spPr>
          <a:xfrm>
            <a:off x="453822" y="5588666"/>
            <a:ext cx="2279954" cy="5887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County-level </a:t>
            </a:r>
            <a:endParaRPr lang="en-US" sz="1200" dirty="0">
              <a:solidFill>
                <a:schemeClr val="tx1"/>
              </a:solidFill>
              <a:hlinkClick r:id="" action="ppaction://noaction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hlinkClick r:id="" action="ppaction://noaction"/>
              </a:rPr>
              <a:t>https://ecdms.energy.ca.gov/elecbycounty.aspx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E2E9436A-19D2-A425-69C2-85D2F202F3FD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2775021" y="4197066"/>
            <a:ext cx="1257708" cy="1890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13905B0-5A26-E5BF-CB79-2A53E3C2143C}"/>
              </a:ext>
            </a:extLst>
          </p:cNvPr>
          <p:cNvSpPr/>
          <p:nvPr/>
        </p:nvSpPr>
        <p:spPr>
          <a:xfrm>
            <a:off x="453822" y="6274435"/>
            <a:ext cx="2279954" cy="58874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tx1"/>
                </a:solidFill>
              </a:rPr>
              <a:t>???Local-level??? </a:t>
            </a:r>
            <a:endParaRPr lang="en-US" sz="1200" dirty="0">
              <a:solidFill>
                <a:schemeClr val="tx1"/>
              </a:solidFill>
              <a:hlinkClick r:id="rId5"/>
            </a:endParaRP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26B1226-5DE1-3A21-C4FA-032B0021E164}"/>
              </a:ext>
            </a:extLst>
          </p:cNvPr>
          <p:cNvCxnSpPr>
            <a:cxnSpLocks/>
            <a:stCxn id="177" idx="3"/>
            <a:endCxn id="186" idx="1"/>
          </p:cNvCxnSpPr>
          <p:nvPr/>
        </p:nvCxnSpPr>
        <p:spPr>
          <a:xfrm>
            <a:off x="2733776" y="6568808"/>
            <a:ext cx="1269539" cy="215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7F7792F1-26E5-5F2C-B914-E8B14B7FF9B5}"/>
              </a:ext>
            </a:extLst>
          </p:cNvPr>
          <p:cNvSpPr/>
          <p:nvPr/>
        </p:nvSpPr>
        <p:spPr>
          <a:xfrm>
            <a:off x="4003315" y="6626976"/>
            <a:ext cx="2379140" cy="3138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dirty="0">
                <a:solidFill>
                  <a:schemeClr val="tx1"/>
                </a:solidFill>
              </a:rPr>
              <a:t>Backup Generation of Electricity</a:t>
            </a:r>
          </a:p>
        </p:txBody>
      </p:sp>
    </p:spTree>
    <p:extLst>
      <p:ext uri="{BB962C8B-B14F-4D97-AF65-F5344CB8AC3E}">
        <p14:creationId xmlns:p14="http://schemas.microsoft.com/office/powerpoint/2010/main" val="2583925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0C2E98-C275-B237-3922-371F171C2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61464" y="6230656"/>
            <a:ext cx="1299935" cy="365125"/>
          </a:xfrm>
        </p:spPr>
        <p:txBody>
          <a:bodyPr/>
          <a:lstStyle/>
          <a:p>
            <a:fld id="{76AEBCD9-C27D-4CBD-88F4-08B4D3A2CDB0}" type="slidenum">
              <a:rPr lang="en-US" smtClean="0"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BD30B2-C19F-4186-CC41-FA84DBA0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2: Grid Overloading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623F14-55BA-778C-372D-3E3FC8D12BA0}"/>
              </a:ext>
            </a:extLst>
          </p:cNvPr>
          <p:cNvCxnSpPr>
            <a:cxnSpLocks/>
          </p:cNvCxnSpPr>
          <p:nvPr/>
        </p:nvCxnSpPr>
        <p:spPr>
          <a:xfrm>
            <a:off x="2673823" y="4678004"/>
            <a:ext cx="6287317" cy="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F2816F4-BC9C-8681-5BC8-B9E05042BE34}"/>
              </a:ext>
            </a:extLst>
          </p:cNvPr>
          <p:cNvCxnSpPr>
            <a:cxnSpLocks/>
          </p:cNvCxnSpPr>
          <p:nvPr/>
        </p:nvCxnSpPr>
        <p:spPr>
          <a:xfrm flipV="1">
            <a:off x="2989634" y="1865376"/>
            <a:ext cx="24383" cy="3073082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7E259AA-3F12-BE29-F4A3-4D8D959EB349}"/>
              </a:ext>
            </a:extLst>
          </p:cNvPr>
          <p:cNvSpPr/>
          <p:nvPr/>
        </p:nvSpPr>
        <p:spPr>
          <a:xfrm>
            <a:off x="3014017" y="2871116"/>
            <a:ext cx="5314394" cy="1070043"/>
          </a:xfrm>
          <a:custGeom>
            <a:avLst/>
            <a:gdLst>
              <a:gd name="connsiteX0" fmla="*/ 0 w 4717915"/>
              <a:gd name="connsiteY0" fmla="*/ 1070043 h 1070043"/>
              <a:gd name="connsiteX1" fmla="*/ 262647 w 4717915"/>
              <a:gd name="connsiteY1" fmla="*/ 1021405 h 1070043"/>
              <a:gd name="connsiteX2" fmla="*/ 301557 w 4717915"/>
              <a:gd name="connsiteY2" fmla="*/ 992222 h 1070043"/>
              <a:gd name="connsiteX3" fmla="*/ 330740 w 4717915"/>
              <a:gd name="connsiteY3" fmla="*/ 972766 h 1070043"/>
              <a:gd name="connsiteX4" fmla="*/ 379379 w 4717915"/>
              <a:gd name="connsiteY4" fmla="*/ 904673 h 1070043"/>
              <a:gd name="connsiteX5" fmla="*/ 398834 w 4717915"/>
              <a:gd name="connsiteY5" fmla="*/ 865762 h 1070043"/>
              <a:gd name="connsiteX6" fmla="*/ 544749 w 4717915"/>
              <a:gd name="connsiteY6" fmla="*/ 739303 h 1070043"/>
              <a:gd name="connsiteX7" fmla="*/ 583660 w 4717915"/>
              <a:gd name="connsiteY7" fmla="*/ 710120 h 1070043"/>
              <a:gd name="connsiteX8" fmla="*/ 680936 w 4717915"/>
              <a:gd name="connsiteY8" fmla="*/ 651754 h 1070043"/>
              <a:gd name="connsiteX9" fmla="*/ 749030 w 4717915"/>
              <a:gd name="connsiteY9" fmla="*/ 583660 h 1070043"/>
              <a:gd name="connsiteX10" fmla="*/ 787940 w 4717915"/>
              <a:gd name="connsiteY10" fmla="*/ 535022 h 1070043"/>
              <a:gd name="connsiteX11" fmla="*/ 856034 w 4717915"/>
              <a:gd name="connsiteY11" fmla="*/ 466928 h 1070043"/>
              <a:gd name="connsiteX12" fmla="*/ 885217 w 4717915"/>
              <a:gd name="connsiteY12" fmla="*/ 437745 h 1070043"/>
              <a:gd name="connsiteX13" fmla="*/ 963038 w 4717915"/>
              <a:gd name="connsiteY13" fmla="*/ 340469 h 1070043"/>
              <a:gd name="connsiteX14" fmla="*/ 1070042 w 4717915"/>
              <a:gd name="connsiteY14" fmla="*/ 272375 h 1070043"/>
              <a:gd name="connsiteX15" fmla="*/ 1196502 w 4717915"/>
              <a:gd name="connsiteY15" fmla="*/ 204281 h 1070043"/>
              <a:gd name="connsiteX16" fmla="*/ 1225685 w 4717915"/>
              <a:gd name="connsiteY16" fmla="*/ 165371 h 1070043"/>
              <a:gd name="connsiteX17" fmla="*/ 1313234 w 4717915"/>
              <a:gd name="connsiteY17" fmla="*/ 116732 h 1070043"/>
              <a:gd name="connsiteX18" fmla="*/ 1566153 w 4717915"/>
              <a:gd name="connsiteY18" fmla="*/ 155643 h 1070043"/>
              <a:gd name="connsiteX19" fmla="*/ 1848255 w 4717915"/>
              <a:gd name="connsiteY19" fmla="*/ 252920 h 1070043"/>
              <a:gd name="connsiteX20" fmla="*/ 1926077 w 4717915"/>
              <a:gd name="connsiteY20" fmla="*/ 272375 h 1070043"/>
              <a:gd name="connsiteX21" fmla="*/ 1974715 w 4717915"/>
              <a:gd name="connsiteY21" fmla="*/ 301558 h 1070043"/>
              <a:gd name="connsiteX22" fmla="*/ 2140085 w 4717915"/>
              <a:gd name="connsiteY22" fmla="*/ 359924 h 1070043"/>
              <a:gd name="connsiteX23" fmla="*/ 2217906 w 4717915"/>
              <a:gd name="connsiteY23" fmla="*/ 379379 h 1070043"/>
              <a:gd name="connsiteX24" fmla="*/ 2344366 w 4717915"/>
              <a:gd name="connsiteY24" fmla="*/ 389107 h 1070043"/>
              <a:gd name="connsiteX25" fmla="*/ 2441642 w 4717915"/>
              <a:gd name="connsiteY25" fmla="*/ 408562 h 1070043"/>
              <a:gd name="connsiteX26" fmla="*/ 2704289 w 4717915"/>
              <a:gd name="connsiteY26" fmla="*/ 379379 h 1070043"/>
              <a:gd name="connsiteX27" fmla="*/ 2830749 w 4717915"/>
              <a:gd name="connsiteY27" fmla="*/ 330741 h 1070043"/>
              <a:gd name="connsiteX28" fmla="*/ 2986391 w 4717915"/>
              <a:gd name="connsiteY28" fmla="*/ 252920 h 1070043"/>
              <a:gd name="connsiteX29" fmla="*/ 3093396 w 4717915"/>
              <a:gd name="connsiteY29" fmla="*/ 204281 h 1070043"/>
              <a:gd name="connsiteX30" fmla="*/ 3161489 w 4717915"/>
              <a:gd name="connsiteY30" fmla="*/ 165371 h 1070043"/>
              <a:gd name="connsiteX31" fmla="*/ 3239311 w 4717915"/>
              <a:gd name="connsiteY31" fmla="*/ 126460 h 1070043"/>
              <a:gd name="connsiteX32" fmla="*/ 3336587 w 4717915"/>
              <a:gd name="connsiteY32" fmla="*/ 48639 h 1070043"/>
              <a:gd name="connsiteX33" fmla="*/ 3385225 w 4717915"/>
              <a:gd name="connsiteY33" fmla="*/ 29183 h 1070043"/>
              <a:gd name="connsiteX34" fmla="*/ 3424136 w 4717915"/>
              <a:gd name="connsiteY34" fmla="*/ 9728 h 1070043"/>
              <a:gd name="connsiteX35" fmla="*/ 3482502 w 4717915"/>
              <a:gd name="connsiteY35" fmla="*/ 0 h 1070043"/>
              <a:gd name="connsiteX36" fmla="*/ 3725694 w 4717915"/>
              <a:gd name="connsiteY36" fmla="*/ 48639 h 1070043"/>
              <a:gd name="connsiteX37" fmla="*/ 3774332 w 4717915"/>
              <a:gd name="connsiteY37" fmla="*/ 87549 h 1070043"/>
              <a:gd name="connsiteX38" fmla="*/ 3900791 w 4717915"/>
              <a:gd name="connsiteY38" fmla="*/ 136188 h 1070043"/>
              <a:gd name="connsiteX39" fmla="*/ 4027251 w 4717915"/>
              <a:gd name="connsiteY39" fmla="*/ 214009 h 1070043"/>
              <a:gd name="connsiteX40" fmla="*/ 4105072 w 4717915"/>
              <a:gd name="connsiteY40" fmla="*/ 262647 h 1070043"/>
              <a:gd name="connsiteX41" fmla="*/ 4143983 w 4717915"/>
              <a:gd name="connsiteY41" fmla="*/ 272375 h 1070043"/>
              <a:gd name="connsiteX42" fmla="*/ 4212077 w 4717915"/>
              <a:gd name="connsiteY42" fmla="*/ 301558 h 1070043"/>
              <a:gd name="connsiteX43" fmla="*/ 4299625 w 4717915"/>
              <a:gd name="connsiteY43" fmla="*/ 311286 h 1070043"/>
              <a:gd name="connsiteX44" fmla="*/ 4387174 w 4717915"/>
              <a:gd name="connsiteY44" fmla="*/ 350196 h 1070043"/>
              <a:gd name="connsiteX45" fmla="*/ 4435813 w 4717915"/>
              <a:gd name="connsiteY45" fmla="*/ 389107 h 1070043"/>
              <a:gd name="connsiteX46" fmla="*/ 4542817 w 4717915"/>
              <a:gd name="connsiteY46" fmla="*/ 437745 h 1070043"/>
              <a:gd name="connsiteX47" fmla="*/ 4591455 w 4717915"/>
              <a:gd name="connsiteY47" fmla="*/ 476656 h 1070043"/>
              <a:gd name="connsiteX48" fmla="*/ 4640094 w 4717915"/>
              <a:gd name="connsiteY48" fmla="*/ 496111 h 1070043"/>
              <a:gd name="connsiteX49" fmla="*/ 4717915 w 4717915"/>
              <a:gd name="connsiteY49" fmla="*/ 535022 h 1070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717915" h="1070043">
                <a:moveTo>
                  <a:pt x="0" y="1070043"/>
                </a:moveTo>
                <a:cubicBezTo>
                  <a:pt x="96998" y="1058632"/>
                  <a:pt x="174417" y="1059218"/>
                  <a:pt x="262647" y="1021405"/>
                </a:cubicBezTo>
                <a:cubicBezTo>
                  <a:pt x="277549" y="1015019"/>
                  <a:pt x="288364" y="1001646"/>
                  <a:pt x="301557" y="992222"/>
                </a:cubicBezTo>
                <a:cubicBezTo>
                  <a:pt x="311071" y="985426"/>
                  <a:pt x="321012" y="979251"/>
                  <a:pt x="330740" y="972766"/>
                </a:cubicBezTo>
                <a:cubicBezTo>
                  <a:pt x="384068" y="866115"/>
                  <a:pt x="313645" y="996702"/>
                  <a:pt x="379379" y="904673"/>
                </a:cubicBezTo>
                <a:cubicBezTo>
                  <a:pt x="387808" y="892873"/>
                  <a:pt x="389931" y="877209"/>
                  <a:pt x="398834" y="865762"/>
                </a:cubicBezTo>
                <a:cubicBezTo>
                  <a:pt x="430446" y="825118"/>
                  <a:pt x="513583" y="763790"/>
                  <a:pt x="544749" y="739303"/>
                </a:cubicBezTo>
                <a:cubicBezTo>
                  <a:pt x="557498" y="729286"/>
                  <a:pt x="569758" y="718461"/>
                  <a:pt x="583660" y="710120"/>
                </a:cubicBezTo>
                <a:cubicBezTo>
                  <a:pt x="616085" y="690665"/>
                  <a:pt x="654197" y="678493"/>
                  <a:pt x="680936" y="651754"/>
                </a:cubicBezTo>
                <a:cubicBezTo>
                  <a:pt x="703634" y="629056"/>
                  <a:pt x="728978" y="608726"/>
                  <a:pt x="749030" y="583660"/>
                </a:cubicBezTo>
                <a:cubicBezTo>
                  <a:pt x="762000" y="567447"/>
                  <a:pt x="773910" y="550327"/>
                  <a:pt x="787940" y="535022"/>
                </a:cubicBezTo>
                <a:cubicBezTo>
                  <a:pt x="809631" y="511359"/>
                  <a:pt x="833336" y="489626"/>
                  <a:pt x="856034" y="466928"/>
                </a:cubicBezTo>
                <a:cubicBezTo>
                  <a:pt x="865762" y="457200"/>
                  <a:pt x="876623" y="448487"/>
                  <a:pt x="885217" y="437745"/>
                </a:cubicBezTo>
                <a:cubicBezTo>
                  <a:pt x="911157" y="405320"/>
                  <a:pt x="925897" y="359040"/>
                  <a:pt x="963038" y="340469"/>
                </a:cubicBezTo>
                <a:cubicBezTo>
                  <a:pt x="1038767" y="302604"/>
                  <a:pt x="967318" y="340858"/>
                  <a:pt x="1070042" y="272375"/>
                </a:cubicBezTo>
                <a:cubicBezTo>
                  <a:pt x="1114143" y="242974"/>
                  <a:pt x="1146878" y="229093"/>
                  <a:pt x="1196502" y="204281"/>
                </a:cubicBezTo>
                <a:cubicBezTo>
                  <a:pt x="1206230" y="191311"/>
                  <a:pt x="1214221" y="176835"/>
                  <a:pt x="1225685" y="165371"/>
                </a:cubicBezTo>
                <a:cubicBezTo>
                  <a:pt x="1256531" y="134525"/>
                  <a:pt x="1273274" y="132717"/>
                  <a:pt x="1313234" y="116732"/>
                </a:cubicBezTo>
                <a:cubicBezTo>
                  <a:pt x="1397540" y="129702"/>
                  <a:pt x="1482595" y="138503"/>
                  <a:pt x="1566153" y="155643"/>
                </a:cubicBezTo>
                <a:cubicBezTo>
                  <a:pt x="1652984" y="173455"/>
                  <a:pt x="1767638" y="226048"/>
                  <a:pt x="1848255" y="252920"/>
                </a:cubicBezTo>
                <a:cubicBezTo>
                  <a:pt x="1873622" y="261376"/>
                  <a:pt x="1900136" y="265890"/>
                  <a:pt x="1926077" y="272375"/>
                </a:cubicBezTo>
                <a:cubicBezTo>
                  <a:pt x="1942290" y="282103"/>
                  <a:pt x="1957804" y="293102"/>
                  <a:pt x="1974715" y="301558"/>
                </a:cubicBezTo>
                <a:cubicBezTo>
                  <a:pt x="2008614" y="318508"/>
                  <a:pt x="2130858" y="357156"/>
                  <a:pt x="2140085" y="359924"/>
                </a:cubicBezTo>
                <a:cubicBezTo>
                  <a:pt x="2165696" y="367607"/>
                  <a:pt x="2191436" y="375598"/>
                  <a:pt x="2217906" y="379379"/>
                </a:cubicBezTo>
                <a:cubicBezTo>
                  <a:pt x="2259759" y="385358"/>
                  <a:pt x="2302213" y="385864"/>
                  <a:pt x="2344366" y="389107"/>
                </a:cubicBezTo>
                <a:cubicBezTo>
                  <a:pt x="2376791" y="395592"/>
                  <a:pt x="2408587" y="409455"/>
                  <a:pt x="2441642" y="408562"/>
                </a:cubicBezTo>
                <a:cubicBezTo>
                  <a:pt x="2529698" y="406182"/>
                  <a:pt x="2617912" y="396654"/>
                  <a:pt x="2704289" y="379379"/>
                </a:cubicBezTo>
                <a:cubicBezTo>
                  <a:pt x="2748576" y="370522"/>
                  <a:pt x="2788948" y="347841"/>
                  <a:pt x="2830749" y="330741"/>
                </a:cubicBezTo>
                <a:cubicBezTo>
                  <a:pt x="2990812" y="265261"/>
                  <a:pt x="2850767" y="320732"/>
                  <a:pt x="2986391" y="252920"/>
                </a:cubicBezTo>
                <a:cubicBezTo>
                  <a:pt x="3021435" y="235398"/>
                  <a:pt x="3058352" y="221803"/>
                  <a:pt x="3093396" y="204281"/>
                </a:cubicBezTo>
                <a:cubicBezTo>
                  <a:pt x="3116778" y="192590"/>
                  <a:pt x="3138422" y="177673"/>
                  <a:pt x="3161489" y="165371"/>
                </a:cubicBezTo>
                <a:cubicBezTo>
                  <a:pt x="3187080" y="151723"/>
                  <a:pt x="3213370" y="139430"/>
                  <a:pt x="3239311" y="126460"/>
                </a:cubicBezTo>
                <a:cubicBezTo>
                  <a:pt x="3279355" y="86415"/>
                  <a:pt x="3282590" y="78092"/>
                  <a:pt x="3336587" y="48639"/>
                </a:cubicBezTo>
                <a:cubicBezTo>
                  <a:pt x="3351917" y="40277"/>
                  <a:pt x="3369268" y="36275"/>
                  <a:pt x="3385225" y="29183"/>
                </a:cubicBezTo>
                <a:cubicBezTo>
                  <a:pt x="3398476" y="23293"/>
                  <a:pt x="3410246" y="13895"/>
                  <a:pt x="3424136" y="9728"/>
                </a:cubicBezTo>
                <a:cubicBezTo>
                  <a:pt x="3443028" y="4060"/>
                  <a:pt x="3463047" y="3243"/>
                  <a:pt x="3482502" y="0"/>
                </a:cubicBezTo>
                <a:cubicBezTo>
                  <a:pt x="3534917" y="8736"/>
                  <a:pt x="3678130" y="30142"/>
                  <a:pt x="3725694" y="48639"/>
                </a:cubicBezTo>
                <a:cubicBezTo>
                  <a:pt x="3745045" y="56164"/>
                  <a:pt x="3755762" y="78264"/>
                  <a:pt x="3774332" y="87549"/>
                </a:cubicBezTo>
                <a:cubicBezTo>
                  <a:pt x="3814727" y="107747"/>
                  <a:pt x="3860396" y="115990"/>
                  <a:pt x="3900791" y="136188"/>
                </a:cubicBezTo>
                <a:cubicBezTo>
                  <a:pt x="3945061" y="158323"/>
                  <a:pt x="3985167" y="187957"/>
                  <a:pt x="4027251" y="214009"/>
                </a:cubicBezTo>
                <a:cubicBezTo>
                  <a:pt x="4053261" y="230110"/>
                  <a:pt x="4075395" y="255228"/>
                  <a:pt x="4105072" y="262647"/>
                </a:cubicBezTo>
                <a:cubicBezTo>
                  <a:pt x="4118042" y="265890"/>
                  <a:pt x="4131418" y="267806"/>
                  <a:pt x="4143983" y="272375"/>
                </a:cubicBezTo>
                <a:cubicBezTo>
                  <a:pt x="4167191" y="280814"/>
                  <a:pt x="4188120" y="295569"/>
                  <a:pt x="4212077" y="301558"/>
                </a:cubicBezTo>
                <a:cubicBezTo>
                  <a:pt x="4240563" y="308679"/>
                  <a:pt x="4270442" y="308043"/>
                  <a:pt x="4299625" y="311286"/>
                </a:cubicBezTo>
                <a:cubicBezTo>
                  <a:pt x="4328808" y="324256"/>
                  <a:pt x="4359446" y="334352"/>
                  <a:pt x="4387174" y="350196"/>
                </a:cubicBezTo>
                <a:cubicBezTo>
                  <a:pt x="4405201" y="360497"/>
                  <a:pt x="4418804" y="377200"/>
                  <a:pt x="4435813" y="389107"/>
                </a:cubicBezTo>
                <a:cubicBezTo>
                  <a:pt x="4483976" y="422821"/>
                  <a:pt x="4486103" y="418841"/>
                  <a:pt x="4542817" y="437745"/>
                </a:cubicBezTo>
                <a:cubicBezTo>
                  <a:pt x="4559030" y="450715"/>
                  <a:pt x="4573651" y="465974"/>
                  <a:pt x="4591455" y="476656"/>
                </a:cubicBezTo>
                <a:cubicBezTo>
                  <a:pt x="4606428" y="485640"/>
                  <a:pt x="4624197" y="488885"/>
                  <a:pt x="4640094" y="496111"/>
                </a:cubicBezTo>
                <a:cubicBezTo>
                  <a:pt x="4640131" y="496128"/>
                  <a:pt x="4700610" y="526369"/>
                  <a:pt x="4717915" y="535022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24355C-FDEC-225C-F0AE-9E41442DC5D8}"/>
              </a:ext>
            </a:extLst>
          </p:cNvPr>
          <p:cNvSpPr txBox="1"/>
          <p:nvPr/>
        </p:nvSpPr>
        <p:spPr>
          <a:xfrm>
            <a:off x="3237396" y="2342761"/>
            <a:ext cx="2059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Maximum Power 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C5B2A2-D792-ECA0-844F-ABD7F0DF2147}"/>
              </a:ext>
            </a:extLst>
          </p:cNvPr>
          <p:cNvSpPr txBox="1"/>
          <p:nvPr/>
        </p:nvSpPr>
        <p:spPr>
          <a:xfrm>
            <a:off x="8531430" y="4711269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521ECC5-991A-7BA5-4A88-0EEF299649C4}"/>
              </a:ext>
            </a:extLst>
          </p:cNvPr>
          <p:cNvSpPr/>
          <p:nvPr/>
        </p:nvSpPr>
        <p:spPr>
          <a:xfrm>
            <a:off x="3014017" y="3834450"/>
            <a:ext cx="2580308" cy="646331"/>
          </a:xfrm>
          <a:custGeom>
            <a:avLst/>
            <a:gdLst>
              <a:gd name="connsiteX0" fmla="*/ 0 w 4601183"/>
              <a:gd name="connsiteY0" fmla="*/ 807395 h 807395"/>
              <a:gd name="connsiteX1" fmla="*/ 116732 w 4601183"/>
              <a:gd name="connsiteY1" fmla="*/ 768485 h 807395"/>
              <a:gd name="connsiteX2" fmla="*/ 184826 w 4601183"/>
              <a:gd name="connsiteY2" fmla="*/ 700391 h 807395"/>
              <a:gd name="connsiteX3" fmla="*/ 233464 w 4601183"/>
              <a:gd name="connsiteY3" fmla="*/ 671208 h 807395"/>
              <a:gd name="connsiteX4" fmla="*/ 340468 w 4601183"/>
              <a:gd name="connsiteY4" fmla="*/ 554476 h 807395"/>
              <a:gd name="connsiteX5" fmla="*/ 496111 w 4601183"/>
              <a:gd name="connsiteY5" fmla="*/ 525293 h 807395"/>
              <a:gd name="connsiteX6" fmla="*/ 573932 w 4601183"/>
              <a:gd name="connsiteY6" fmla="*/ 505838 h 807395"/>
              <a:gd name="connsiteX7" fmla="*/ 622571 w 4601183"/>
              <a:gd name="connsiteY7" fmla="*/ 515566 h 807395"/>
              <a:gd name="connsiteX8" fmla="*/ 710120 w 4601183"/>
              <a:gd name="connsiteY8" fmla="*/ 583659 h 807395"/>
              <a:gd name="connsiteX9" fmla="*/ 749030 w 4601183"/>
              <a:gd name="connsiteY9" fmla="*/ 632297 h 807395"/>
              <a:gd name="connsiteX10" fmla="*/ 836579 w 4601183"/>
              <a:gd name="connsiteY10" fmla="*/ 710119 h 807395"/>
              <a:gd name="connsiteX11" fmla="*/ 1050588 w 4601183"/>
              <a:gd name="connsiteY11" fmla="*/ 642025 h 807395"/>
              <a:gd name="connsiteX12" fmla="*/ 1128409 w 4601183"/>
              <a:gd name="connsiteY12" fmla="*/ 535021 h 807395"/>
              <a:gd name="connsiteX13" fmla="*/ 1254868 w 4601183"/>
              <a:gd name="connsiteY13" fmla="*/ 243191 h 807395"/>
              <a:gd name="connsiteX14" fmla="*/ 1352145 w 4601183"/>
              <a:gd name="connsiteY14" fmla="*/ 58366 h 807395"/>
              <a:gd name="connsiteX15" fmla="*/ 1410511 w 4601183"/>
              <a:gd name="connsiteY15" fmla="*/ 0 h 807395"/>
              <a:gd name="connsiteX16" fmla="*/ 1468877 w 4601183"/>
              <a:gd name="connsiteY16" fmla="*/ 107004 h 807395"/>
              <a:gd name="connsiteX17" fmla="*/ 1527243 w 4601183"/>
              <a:gd name="connsiteY17" fmla="*/ 233463 h 807395"/>
              <a:gd name="connsiteX18" fmla="*/ 1585609 w 4601183"/>
              <a:gd name="connsiteY18" fmla="*/ 330740 h 807395"/>
              <a:gd name="connsiteX19" fmla="*/ 1614792 w 4601183"/>
              <a:gd name="connsiteY19" fmla="*/ 369651 h 807395"/>
              <a:gd name="connsiteX20" fmla="*/ 1702341 w 4601183"/>
              <a:gd name="connsiteY20" fmla="*/ 428017 h 807395"/>
              <a:gd name="connsiteX21" fmla="*/ 1848256 w 4601183"/>
              <a:gd name="connsiteY21" fmla="*/ 496110 h 807395"/>
              <a:gd name="connsiteX22" fmla="*/ 1916349 w 4601183"/>
              <a:gd name="connsiteY22" fmla="*/ 505838 h 807395"/>
              <a:gd name="connsiteX23" fmla="*/ 1964988 w 4601183"/>
              <a:gd name="connsiteY23" fmla="*/ 496110 h 807395"/>
              <a:gd name="connsiteX24" fmla="*/ 2042809 w 4601183"/>
              <a:gd name="connsiteY24" fmla="*/ 418289 h 807395"/>
              <a:gd name="connsiteX25" fmla="*/ 2081720 w 4601183"/>
              <a:gd name="connsiteY25" fmla="*/ 379378 h 807395"/>
              <a:gd name="connsiteX26" fmla="*/ 2110903 w 4601183"/>
              <a:gd name="connsiteY26" fmla="*/ 359923 h 807395"/>
              <a:gd name="connsiteX27" fmla="*/ 2140086 w 4601183"/>
              <a:gd name="connsiteY27" fmla="*/ 330740 h 807395"/>
              <a:gd name="connsiteX28" fmla="*/ 2237362 w 4601183"/>
              <a:gd name="connsiteY28" fmla="*/ 282102 h 807395"/>
              <a:gd name="connsiteX29" fmla="*/ 2315183 w 4601183"/>
              <a:gd name="connsiteY29" fmla="*/ 233463 h 807395"/>
              <a:gd name="connsiteX30" fmla="*/ 2597286 w 4601183"/>
              <a:gd name="connsiteY30" fmla="*/ 301557 h 807395"/>
              <a:gd name="connsiteX31" fmla="*/ 2723745 w 4601183"/>
              <a:gd name="connsiteY31" fmla="*/ 223736 h 807395"/>
              <a:gd name="connsiteX32" fmla="*/ 2859932 w 4601183"/>
              <a:gd name="connsiteY32" fmla="*/ 175097 h 807395"/>
              <a:gd name="connsiteX33" fmla="*/ 2898843 w 4601183"/>
              <a:gd name="connsiteY33" fmla="*/ 145914 h 807395"/>
              <a:gd name="connsiteX34" fmla="*/ 3112851 w 4601183"/>
              <a:gd name="connsiteY34" fmla="*/ 301557 h 807395"/>
              <a:gd name="connsiteX35" fmla="*/ 3268494 w 4601183"/>
              <a:gd name="connsiteY35" fmla="*/ 340468 h 807395"/>
              <a:gd name="connsiteX36" fmla="*/ 3511686 w 4601183"/>
              <a:gd name="connsiteY36" fmla="*/ 505838 h 807395"/>
              <a:gd name="connsiteX37" fmla="*/ 3579779 w 4601183"/>
              <a:gd name="connsiteY37" fmla="*/ 496110 h 807395"/>
              <a:gd name="connsiteX38" fmla="*/ 3638145 w 4601183"/>
              <a:gd name="connsiteY38" fmla="*/ 447472 h 807395"/>
              <a:gd name="connsiteX39" fmla="*/ 3745149 w 4601183"/>
              <a:gd name="connsiteY39" fmla="*/ 389106 h 807395"/>
              <a:gd name="connsiteX40" fmla="*/ 3861881 w 4601183"/>
              <a:gd name="connsiteY40" fmla="*/ 233463 h 807395"/>
              <a:gd name="connsiteX41" fmla="*/ 3949430 w 4601183"/>
              <a:gd name="connsiteY41" fmla="*/ 155642 h 807395"/>
              <a:gd name="connsiteX42" fmla="*/ 4017524 w 4601183"/>
              <a:gd name="connsiteY42" fmla="*/ 87549 h 807395"/>
              <a:gd name="connsiteX43" fmla="*/ 4114800 w 4601183"/>
              <a:gd name="connsiteY43" fmla="*/ 272374 h 807395"/>
              <a:gd name="connsiteX44" fmla="*/ 4134256 w 4601183"/>
              <a:gd name="connsiteY44" fmla="*/ 321012 h 807395"/>
              <a:gd name="connsiteX45" fmla="*/ 4182894 w 4601183"/>
              <a:gd name="connsiteY45" fmla="*/ 311285 h 807395"/>
              <a:gd name="connsiteX46" fmla="*/ 4260715 w 4601183"/>
              <a:gd name="connsiteY46" fmla="*/ 252919 h 807395"/>
              <a:gd name="connsiteX47" fmla="*/ 4357992 w 4601183"/>
              <a:gd name="connsiteY47" fmla="*/ 321012 h 807395"/>
              <a:gd name="connsiteX48" fmla="*/ 4426086 w 4601183"/>
              <a:gd name="connsiteY48" fmla="*/ 340468 h 807395"/>
              <a:gd name="connsiteX49" fmla="*/ 4523362 w 4601183"/>
              <a:gd name="connsiteY49" fmla="*/ 369651 h 807395"/>
              <a:gd name="connsiteX50" fmla="*/ 4601183 w 4601183"/>
              <a:gd name="connsiteY50" fmla="*/ 350195 h 807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601183" h="807395">
                <a:moveTo>
                  <a:pt x="0" y="807395"/>
                </a:moveTo>
                <a:cubicBezTo>
                  <a:pt x="38911" y="794425"/>
                  <a:pt x="81236" y="789035"/>
                  <a:pt x="116732" y="768485"/>
                </a:cubicBezTo>
                <a:cubicBezTo>
                  <a:pt x="144512" y="752402"/>
                  <a:pt x="157301" y="716906"/>
                  <a:pt x="184826" y="700391"/>
                </a:cubicBezTo>
                <a:lnTo>
                  <a:pt x="233464" y="671208"/>
                </a:lnTo>
                <a:cubicBezTo>
                  <a:pt x="256473" y="640529"/>
                  <a:pt x="314958" y="558727"/>
                  <a:pt x="340468" y="554476"/>
                </a:cubicBezTo>
                <a:cubicBezTo>
                  <a:pt x="403641" y="543948"/>
                  <a:pt x="426120" y="540847"/>
                  <a:pt x="496111" y="525293"/>
                </a:cubicBezTo>
                <a:cubicBezTo>
                  <a:pt x="522213" y="519493"/>
                  <a:pt x="547992" y="512323"/>
                  <a:pt x="573932" y="505838"/>
                </a:cubicBezTo>
                <a:cubicBezTo>
                  <a:pt x="590145" y="509081"/>
                  <a:pt x="607219" y="509425"/>
                  <a:pt x="622571" y="515566"/>
                </a:cubicBezTo>
                <a:cubicBezTo>
                  <a:pt x="659888" y="530493"/>
                  <a:pt x="684081" y="554366"/>
                  <a:pt x="710120" y="583659"/>
                </a:cubicBezTo>
                <a:cubicBezTo>
                  <a:pt x="723914" y="599177"/>
                  <a:pt x="735141" y="616864"/>
                  <a:pt x="749030" y="632297"/>
                </a:cubicBezTo>
                <a:cubicBezTo>
                  <a:pt x="790641" y="678532"/>
                  <a:pt x="792400" y="676985"/>
                  <a:pt x="836579" y="710119"/>
                </a:cubicBezTo>
                <a:cubicBezTo>
                  <a:pt x="872431" y="701156"/>
                  <a:pt x="1015998" y="670850"/>
                  <a:pt x="1050588" y="642025"/>
                </a:cubicBezTo>
                <a:cubicBezTo>
                  <a:pt x="1084469" y="613791"/>
                  <a:pt x="1110497" y="575323"/>
                  <a:pt x="1128409" y="535021"/>
                </a:cubicBezTo>
                <a:cubicBezTo>
                  <a:pt x="1258858" y="241510"/>
                  <a:pt x="1158230" y="471608"/>
                  <a:pt x="1254868" y="243191"/>
                </a:cubicBezTo>
                <a:cubicBezTo>
                  <a:pt x="1300119" y="136234"/>
                  <a:pt x="1291332" y="125259"/>
                  <a:pt x="1352145" y="58366"/>
                </a:cubicBezTo>
                <a:cubicBezTo>
                  <a:pt x="1370653" y="38007"/>
                  <a:pt x="1410511" y="0"/>
                  <a:pt x="1410511" y="0"/>
                </a:cubicBezTo>
                <a:cubicBezTo>
                  <a:pt x="1429966" y="35668"/>
                  <a:pt x="1450707" y="70664"/>
                  <a:pt x="1468877" y="107004"/>
                </a:cubicBezTo>
                <a:cubicBezTo>
                  <a:pt x="1489639" y="148529"/>
                  <a:pt x="1505768" y="192302"/>
                  <a:pt x="1527243" y="233463"/>
                </a:cubicBezTo>
                <a:cubicBezTo>
                  <a:pt x="1544735" y="266989"/>
                  <a:pt x="1565161" y="298931"/>
                  <a:pt x="1585609" y="330740"/>
                </a:cubicBezTo>
                <a:cubicBezTo>
                  <a:pt x="1594376" y="344378"/>
                  <a:pt x="1602337" y="359272"/>
                  <a:pt x="1614792" y="369651"/>
                </a:cubicBezTo>
                <a:cubicBezTo>
                  <a:pt x="1641736" y="392105"/>
                  <a:pt x="1672599" y="409428"/>
                  <a:pt x="1702341" y="428017"/>
                </a:cubicBezTo>
                <a:cubicBezTo>
                  <a:pt x="1751529" y="458760"/>
                  <a:pt x="1791483" y="480971"/>
                  <a:pt x="1848256" y="496110"/>
                </a:cubicBezTo>
                <a:cubicBezTo>
                  <a:pt x="1870410" y="502018"/>
                  <a:pt x="1893651" y="502595"/>
                  <a:pt x="1916349" y="505838"/>
                </a:cubicBezTo>
                <a:cubicBezTo>
                  <a:pt x="1932562" y="502595"/>
                  <a:pt x="1951394" y="505521"/>
                  <a:pt x="1964988" y="496110"/>
                </a:cubicBezTo>
                <a:cubicBezTo>
                  <a:pt x="1995150" y="475228"/>
                  <a:pt x="2016869" y="444229"/>
                  <a:pt x="2042809" y="418289"/>
                </a:cubicBezTo>
                <a:cubicBezTo>
                  <a:pt x="2055779" y="405319"/>
                  <a:pt x="2066458" y="389553"/>
                  <a:pt x="2081720" y="379378"/>
                </a:cubicBezTo>
                <a:cubicBezTo>
                  <a:pt x="2091448" y="372893"/>
                  <a:pt x="2101922" y="367407"/>
                  <a:pt x="2110903" y="359923"/>
                </a:cubicBezTo>
                <a:cubicBezTo>
                  <a:pt x="2121471" y="351116"/>
                  <a:pt x="2128370" y="337950"/>
                  <a:pt x="2140086" y="330740"/>
                </a:cubicBezTo>
                <a:cubicBezTo>
                  <a:pt x="2170961" y="311740"/>
                  <a:pt x="2209054" y="304749"/>
                  <a:pt x="2237362" y="282102"/>
                </a:cubicBezTo>
                <a:cubicBezTo>
                  <a:pt x="2294007" y="236785"/>
                  <a:pt x="2266303" y="249757"/>
                  <a:pt x="2315183" y="233463"/>
                </a:cubicBezTo>
                <a:cubicBezTo>
                  <a:pt x="2348960" y="244018"/>
                  <a:pt x="2544664" y="313700"/>
                  <a:pt x="2597286" y="301557"/>
                </a:cubicBezTo>
                <a:cubicBezTo>
                  <a:pt x="2645514" y="290428"/>
                  <a:pt x="2675728" y="235741"/>
                  <a:pt x="2723745" y="223736"/>
                </a:cubicBezTo>
                <a:cubicBezTo>
                  <a:pt x="2779740" y="209737"/>
                  <a:pt x="2794118" y="208004"/>
                  <a:pt x="2859932" y="175097"/>
                </a:cubicBezTo>
                <a:cubicBezTo>
                  <a:pt x="2874433" y="167846"/>
                  <a:pt x="2885873" y="155642"/>
                  <a:pt x="2898843" y="145914"/>
                </a:cubicBezTo>
                <a:cubicBezTo>
                  <a:pt x="2960421" y="198019"/>
                  <a:pt x="3031666" y="272330"/>
                  <a:pt x="3112851" y="301557"/>
                </a:cubicBezTo>
                <a:cubicBezTo>
                  <a:pt x="3163168" y="319671"/>
                  <a:pt x="3216613" y="327498"/>
                  <a:pt x="3268494" y="340468"/>
                </a:cubicBezTo>
                <a:cubicBezTo>
                  <a:pt x="3361013" y="432986"/>
                  <a:pt x="3374210" y="468344"/>
                  <a:pt x="3511686" y="505838"/>
                </a:cubicBezTo>
                <a:cubicBezTo>
                  <a:pt x="3533806" y="511871"/>
                  <a:pt x="3557081" y="499353"/>
                  <a:pt x="3579779" y="496110"/>
                </a:cubicBezTo>
                <a:cubicBezTo>
                  <a:pt x="3601293" y="474596"/>
                  <a:pt x="3611058" y="461015"/>
                  <a:pt x="3638145" y="447472"/>
                </a:cubicBezTo>
                <a:cubicBezTo>
                  <a:pt x="3704682" y="414204"/>
                  <a:pt x="3677358" y="444571"/>
                  <a:pt x="3745149" y="389106"/>
                </a:cubicBezTo>
                <a:cubicBezTo>
                  <a:pt x="3814120" y="332675"/>
                  <a:pt x="3799111" y="319058"/>
                  <a:pt x="3861881" y="233463"/>
                </a:cubicBezTo>
                <a:cubicBezTo>
                  <a:pt x="3886386" y="200047"/>
                  <a:pt x="3919393" y="183175"/>
                  <a:pt x="3949430" y="155642"/>
                </a:cubicBezTo>
                <a:cubicBezTo>
                  <a:pt x="3973092" y="133952"/>
                  <a:pt x="4017524" y="87549"/>
                  <a:pt x="4017524" y="87549"/>
                </a:cubicBezTo>
                <a:cubicBezTo>
                  <a:pt x="4049949" y="149157"/>
                  <a:pt x="4083665" y="210104"/>
                  <a:pt x="4114800" y="272374"/>
                </a:cubicBezTo>
                <a:cubicBezTo>
                  <a:pt x="4122609" y="287992"/>
                  <a:pt x="4119095" y="312349"/>
                  <a:pt x="4134256" y="321012"/>
                </a:cubicBezTo>
                <a:cubicBezTo>
                  <a:pt x="4148611" y="329215"/>
                  <a:pt x="4166681" y="314527"/>
                  <a:pt x="4182894" y="311285"/>
                </a:cubicBezTo>
                <a:cubicBezTo>
                  <a:pt x="4208834" y="291830"/>
                  <a:pt x="4234775" y="233464"/>
                  <a:pt x="4260715" y="252919"/>
                </a:cubicBezTo>
                <a:cubicBezTo>
                  <a:pt x="4289863" y="274780"/>
                  <a:pt x="4327194" y="303902"/>
                  <a:pt x="4357992" y="321012"/>
                </a:cubicBezTo>
                <a:cubicBezTo>
                  <a:pt x="4374275" y="330058"/>
                  <a:pt x="4410584" y="334655"/>
                  <a:pt x="4426086" y="340468"/>
                </a:cubicBezTo>
                <a:cubicBezTo>
                  <a:pt x="4516569" y="374399"/>
                  <a:pt x="4404540" y="349847"/>
                  <a:pt x="4523362" y="369651"/>
                </a:cubicBezTo>
                <a:cubicBezTo>
                  <a:pt x="4595995" y="359274"/>
                  <a:pt x="4575244" y="376137"/>
                  <a:pt x="4601183" y="350195"/>
                </a:cubicBez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54A2DA-AE73-5932-7B3E-7C6280A934E2}"/>
              </a:ext>
            </a:extLst>
          </p:cNvPr>
          <p:cNvSpPr txBox="1"/>
          <p:nvPr/>
        </p:nvSpPr>
        <p:spPr>
          <a:xfrm>
            <a:off x="3612405" y="4160273"/>
            <a:ext cx="161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“Normal” Load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5F7E75C-6E41-8F43-9E9F-80B01E108E5A}"/>
              </a:ext>
            </a:extLst>
          </p:cNvPr>
          <p:cNvSpPr/>
          <p:nvPr/>
        </p:nvSpPr>
        <p:spPr>
          <a:xfrm>
            <a:off x="5605272" y="1485154"/>
            <a:ext cx="2102732" cy="2640115"/>
          </a:xfrm>
          <a:custGeom>
            <a:avLst/>
            <a:gdLst>
              <a:gd name="connsiteX0" fmla="*/ 0 w 4435813"/>
              <a:gd name="connsiteY0" fmla="*/ 2640115 h 2640115"/>
              <a:gd name="connsiteX1" fmla="*/ 145915 w 4435813"/>
              <a:gd name="connsiteY1" fmla="*/ 2523383 h 2640115"/>
              <a:gd name="connsiteX2" fmla="*/ 223737 w 4435813"/>
              <a:gd name="connsiteY2" fmla="*/ 2484473 h 2640115"/>
              <a:gd name="connsiteX3" fmla="*/ 262647 w 4435813"/>
              <a:gd name="connsiteY3" fmla="*/ 2455290 h 2640115"/>
              <a:gd name="connsiteX4" fmla="*/ 291830 w 4435813"/>
              <a:gd name="connsiteY4" fmla="*/ 2435834 h 2640115"/>
              <a:gd name="connsiteX5" fmla="*/ 359924 w 4435813"/>
              <a:gd name="connsiteY5" fmla="*/ 2367741 h 2640115"/>
              <a:gd name="connsiteX6" fmla="*/ 398834 w 4435813"/>
              <a:gd name="connsiteY6" fmla="*/ 2338558 h 2640115"/>
              <a:gd name="connsiteX7" fmla="*/ 466928 w 4435813"/>
              <a:gd name="connsiteY7" fmla="*/ 2251009 h 2640115"/>
              <a:gd name="connsiteX8" fmla="*/ 496111 w 4435813"/>
              <a:gd name="connsiteY8" fmla="*/ 2241281 h 2640115"/>
              <a:gd name="connsiteX9" fmla="*/ 661481 w 4435813"/>
              <a:gd name="connsiteY9" fmla="*/ 2212098 h 2640115"/>
              <a:gd name="connsiteX10" fmla="*/ 729575 w 4435813"/>
              <a:gd name="connsiteY10" fmla="*/ 2192643 h 2640115"/>
              <a:gd name="connsiteX11" fmla="*/ 787941 w 4435813"/>
              <a:gd name="connsiteY11" fmla="*/ 2182915 h 2640115"/>
              <a:gd name="connsiteX12" fmla="*/ 865762 w 4435813"/>
              <a:gd name="connsiteY12" fmla="*/ 2163460 h 2640115"/>
              <a:gd name="connsiteX13" fmla="*/ 992222 w 4435813"/>
              <a:gd name="connsiteY13" fmla="*/ 2153732 h 2640115"/>
              <a:gd name="connsiteX14" fmla="*/ 1031132 w 4435813"/>
              <a:gd name="connsiteY14" fmla="*/ 2144004 h 2640115"/>
              <a:gd name="connsiteX15" fmla="*/ 1284051 w 4435813"/>
              <a:gd name="connsiteY15" fmla="*/ 1871630 h 2640115"/>
              <a:gd name="connsiteX16" fmla="*/ 1342417 w 4435813"/>
              <a:gd name="connsiteY16" fmla="*/ 1754898 h 2640115"/>
              <a:gd name="connsiteX17" fmla="*/ 1381328 w 4435813"/>
              <a:gd name="connsiteY17" fmla="*/ 1677077 h 2640115"/>
              <a:gd name="connsiteX18" fmla="*/ 1410511 w 4435813"/>
              <a:gd name="connsiteY18" fmla="*/ 1453341 h 2640115"/>
              <a:gd name="connsiteX19" fmla="*/ 1420239 w 4435813"/>
              <a:gd name="connsiteY19" fmla="*/ 1073962 h 2640115"/>
              <a:gd name="connsiteX20" fmla="*/ 1449422 w 4435813"/>
              <a:gd name="connsiteY20" fmla="*/ 957230 h 2640115"/>
              <a:gd name="connsiteX21" fmla="*/ 1488332 w 4435813"/>
              <a:gd name="connsiteY21" fmla="*/ 782132 h 2640115"/>
              <a:gd name="connsiteX22" fmla="*/ 1595337 w 4435813"/>
              <a:gd name="connsiteY22" fmla="*/ 461119 h 2640115"/>
              <a:gd name="connsiteX23" fmla="*/ 1643975 w 4435813"/>
              <a:gd name="connsiteY23" fmla="*/ 324932 h 2640115"/>
              <a:gd name="connsiteX24" fmla="*/ 1673158 w 4435813"/>
              <a:gd name="connsiteY24" fmla="*/ 247111 h 2640115"/>
              <a:gd name="connsiteX25" fmla="*/ 1682885 w 4435813"/>
              <a:gd name="connsiteY25" fmla="*/ 81741 h 2640115"/>
              <a:gd name="connsiteX26" fmla="*/ 1692613 w 4435813"/>
              <a:gd name="connsiteY26" fmla="*/ 3919 h 2640115"/>
              <a:gd name="connsiteX27" fmla="*/ 1809345 w 4435813"/>
              <a:gd name="connsiteY27" fmla="*/ 266566 h 2640115"/>
              <a:gd name="connsiteX28" fmla="*/ 1848256 w 4435813"/>
              <a:gd name="connsiteY28" fmla="*/ 344387 h 2640115"/>
              <a:gd name="connsiteX29" fmla="*/ 1887166 w 4435813"/>
              <a:gd name="connsiteY29" fmla="*/ 393026 h 2640115"/>
              <a:gd name="connsiteX30" fmla="*/ 1964988 w 4435813"/>
              <a:gd name="connsiteY30" fmla="*/ 538941 h 2640115"/>
              <a:gd name="connsiteX31" fmla="*/ 2003898 w 4435813"/>
              <a:gd name="connsiteY31" fmla="*/ 616762 h 2640115"/>
              <a:gd name="connsiteX32" fmla="*/ 2091447 w 4435813"/>
              <a:gd name="connsiteY32" fmla="*/ 782132 h 2640115"/>
              <a:gd name="connsiteX33" fmla="*/ 2140085 w 4435813"/>
              <a:gd name="connsiteY33" fmla="*/ 937775 h 2640115"/>
              <a:gd name="connsiteX34" fmla="*/ 2169268 w 4435813"/>
              <a:gd name="connsiteY34" fmla="*/ 1054507 h 2640115"/>
              <a:gd name="connsiteX35" fmla="*/ 2208179 w 4435813"/>
              <a:gd name="connsiteY35" fmla="*/ 1151783 h 2640115"/>
              <a:gd name="connsiteX36" fmla="*/ 2256817 w 4435813"/>
              <a:gd name="connsiteY36" fmla="*/ 1297698 h 2640115"/>
              <a:gd name="connsiteX37" fmla="*/ 2324911 w 4435813"/>
              <a:gd name="connsiteY37" fmla="*/ 1433885 h 2640115"/>
              <a:gd name="connsiteX38" fmla="*/ 2354094 w 4435813"/>
              <a:gd name="connsiteY38" fmla="*/ 1589528 h 2640115"/>
              <a:gd name="connsiteX39" fmla="*/ 2373549 w 4435813"/>
              <a:gd name="connsiteY39" fmla="*/ 1706260 h 2640115"/>
              <a:gd name="connsiteX40" fmla="*/ 2412460 w 4435813"/>
              <a:gd name="connsiteY40" fmla="*/ 1813264 h 2640115"/>
              <a:gd name="connsiteX41" fmla="*/ 2441643 w 4435813"/>
              <a:gd name="connsiteY41" fmla="*/ 1822992 h 2640115"/>
              <a:gd name="connsiteX42" fmla="*/ 2723745 w 4435813"/>
              <a:gd name="connsiteY42" fmla="*/ 1793809 h 2640115"/>
              <a:gd name="connsiteX43" fmla="*/ 2762656 w 4435813"/>
              <a:gd name="connsiteY43" fmla="*/ 1764626 h 2640115"/>
              <a:gd name="connsiteX44" fmla="*/ 2898843 w 4435813"/>
              <a:gd name="connsiteY44" fmla="*/ 1638166 h 2640115"/>
              <a:gd name="connsiteX45" fmla="*/ 2947481 w 4435813"/>
              <a:gd name="connsiteY45" fmla="*/ 1608983 h 2640115"/>
              <a:gd name="connsiteX46" fmla="*/ 3132307 w 4435813"/>
              <a:gd name="connsiteY46" fmla="*/ 1579800 h 2640115"/>
              <a:gd name="connsiteX47" fmla="*/ 3317132 w 4435813"/>
              <a:gd name="connsiteY47" fmla="*/ 1618711 h 2640115"/>
              <a:gd name="connsiteX48" fmla="*/ 3540868 w 4435813"/>
              <a:gd name="connsiteY48" fmla="*/ 1628438 h 2640115"/>
              <a:gd name="connsiteX49" fmla="*/ 3657600 w 4435813"/>
              <a:gd name="connsiteY49" fmla="*/ 1677077 h 2640115"/>
              <a:gd name="connsiteX50" fmla="*/ 3754877 w 4435813"/>
              <a:gd name="connsiteY50" fmla="*/ 1706260 h 2640115"/>
              <a:gd name="connsiteX51" fmla="*/ 3920247 w 4435813"/>
              <a:gd name="connsiteY51" fmla="*/ 1764626 h 2640115"/>
              <a:gd name="connsiteX52" fmla="*/ 4435813 w 4435813"/>
              <a:gd name="connsiteY52" fmla="*/ 1774353 h 264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4435813" h="2640115">
                <a:moveTo>
                  <a:pt x="0" y="2640115"/>
                </a:moveTo>
                <a:cubicBezTo>
                  <a:pt x="61257" y="2578859"/>
                  <a:pt x="56388" y="2578094"/>
                  <a:pt x="145915" y="2523383"/>
                </a:cubicBezTo>
                <a:cubicBezTo>
                  <a:pt x="170662" y="2508260"/>
                  <a:pt x="198685" y="2499086"/>
                  <a:pt x="223737" y="2484473"/>
                </a:cubicBezTo>
                <a:cubicBezTo>
                  <a:pt x="237741" y="2476304"/>
                  <a:pt x="249454" y="2464714"/>
                  <a:pt x="262647" y="2455290"/>
                </a:cubicBezTo>
                <a:cubicBezTo>
                  <a:pt x="272161" y="2448494"/>
                  <a:pt x="283140" y="2443655"/>
                  <a:pt x="291830" y="2435834"/>
                </a:cubicBezTo>
                <a:cubicBezTo>
                  <a:pt x="315689" y="2414361"/>
                  <a:pt x="334244" y="2387001"/>
                  <a:pt x="359924" y="2367741"/>
                </a:cubicBezTo>
                <a:cubicBezTo>
                  <a:pt x="372894" y="2358013"/>
                  <a:pt x="388063" y="2350675"/>
                  <a:pt x="398834" y="2338558"/>
                </a:cubicBezTo>
                <a:cubicBezTo>
                  <a:pt x="426943" y="2306935"/>
                  <a:pt x="432056" y="2274257"/>
                  <a:pt x="466928" y="2251009"/>
                </a:cubicBezTo>
                <a:cubicBezTo>
                  <a:pt x="475460" y="2245321"/>
                  <a:pt x="486056" y="2243292"/>
                  <a:pt x="496111" y="2241281"/>
                </a:cubicBezTo>
                <a:cubicBezTo>
                  <a:pt x="550999" y="2230303"/>
                  <a:pt x="606682" y="2223514"/>
                  <a:pt x="661481" y="2212098"/>
                </a:cubicBezTo>
                <a:cubicBezTo>
                  <a:pt x="684591" y="2207283"/>
                  <a:pt x="706573" y="2197951"/>
                  <a:pt x="729575" y="2192643"/>
                </a:cubicBezTo>
                <a:cubicBezTo>
                  <a:pt x="748794" y="2188208"/>
                  <a:pt x="768655" y="2187048"/>
                  <a:pt x="787941" y="2182915"/>
                </a:cubicBezTo>
                <a:cubicBezTo>
                  <a:pt x="814086" y="2177312"/>
                  <a:pt x="839292" y="2167241"/>
                  <a:pt x="865762" y="2163460"/>
                </a:cubicBezTo>
                <a:cubicBezTo>
                  <a:pt x="907615" y="2157481"/>
                  <a:pt x="950069" y="2156975"/>
                  <a:pt x="992222" y="2153732"/>
                </a:cubicBezTo>
                <a:cubicBezTo>
                  <a:pt x="1005192" y="2150489"/>
                  <a:pt x="1018639" y="2148763"/>
                  <a:pt x="1031132" y="2144004"/>
                </a:cubicBezTo>
                <a:cubicBezTo>
                  <a:pt x="1278950" y="2049597"/>
                  <a:pt x="1155690" y="2128352"/>
                  <a:pt x="1284051" y="1871630"/>
                </a:cubicBezTo>
                <a:lnTo>
                  <a:pt x="1342417" y="1754898"/>
                </a:lnTo>
                <a:lnTo>
                  <a:pt x="1381328" y="1677077"/>
                </a:lnTo>
                <a:cubicBezTo>
                  <a:pt x="1399784" y="1575568"/>
                  <a:pt x="1406371" y="1558907"/>
                  <a:pt x="1410511" y="1453341"/>
                </a:cubicBezTo>
                <a:cubicBezTo>
                  <a:pt x="1415468" y="1326937"/>
                  <a:pt x="1410348" y="1200076"/>
                  <a:pt x="1420239" y="1073962"/>
                </a:cubicBezTo>
                <a:cubicBezTo>
                  <a:pt x="1423375" y="1033977"/>
                  <a:pt x="1440308" y="996289"/>
                  <a:pt x="1449422" y="957230"/>
                </a:cubicBezTo>
                <a:cubicBezTo>
                  <a:pt x="1463008" y="899004"/>
                  <a:pt x="1471461" y="839492"/>
                  <a:pt x="1488332" y="782132"/>
                </a:cubicBezTo>
                <a:cubicBezTo>
                  <a:pt x="1520158" y="673923"/>
                  <a:pt x="1558988" y="567894"/>
                  <a:pt x="1595337" y="461119"/>
                </a:cubicBezTo>
                <a:cubicBezTo>
                  <a:pt x="1610871" y="415487"/>
                  <a:pt x="1627502" y="370234"/>
                  <a:pt x="1643975" y="324932"/>
                </a:cubicBezTo>
                <a:cubicBezTo>
                  <a:pt x="1653443" y="298896"/>
                  <a:pt x="1673158" y="247111"/>
                  <a:pt x="1673158" y="247111"/>
                </a:cubicBezTo>
                <a:cubicBezTo>
                  <a:pt x="1676400" y="191988"/>
                  <a:pt x="1678482" y="136784"/>
                  <a:pt x="1682885" y="81741"/>
                </a:cubicBezTo>
                <a:cubicBezTo>
                  <a:pt x="1684970" y="55682"/>
                  <a:pt x="1677851" y="-17657"/>
                  <a:pt x="1692613" y="3919"/>
                </a:cubicBezTo>
                <a:cubicBezTo>
                  <a:pt x="1746714" y="82989"/>
                  <a:pt x="1769512" y="179433"/>
                  <a:pt x="1809345" y="266566"/>
                </a:cubicBezTo>
                <a:cubicBezTo>
                  <a:pt x="1821403" y="292943"/>
                  <a:pt x="1830139" y="321740"/>
                  <a:pt x="1848256" y="344387"/>
                </a:cubicBezTo>
                <a:lnTo>
                  <a:pt x="1887166" y="393026"/>
                </a:lnTo>
                <a:cubicBezTo>
                  <a:pt x="1915905" y="479241"/>
                  <a:pt x="1870791" y="350544"/>
                  <a:pt x="1964988" y="538941"/>
                </a:cubicBezTo>
                <a:cubicBezTo>
                  <a:pt x="1977958" y="564881"/>
                  <a:pt x="1989813" y="591410"/>
                  <a:pt x="2003898" y="616762"/>
                </a:cubicBezTo>
                <a:cubicBezTo>
                  <a:pt x="2024370" y="653611"/>
                  <a:pt x="2074313" y="740521"/>
                  <a:pt x="2091447" y="782132"/>
                </a:cubicBezTo>
                <a:cubicBezTo>
                  <a:pt x="2104872" y="814736"/>
                  <a:pt x="2130000" y="899453"/>
                  <a:pt x="2140085" y="937775"/>
                </a:cubicBezTo>
                <a:cubicBezTo>
                  <a:pt x="2150292" y="976563"/>
                  <a:pt x="2157107" y="1016287"/>
                  <a:pt x="2169268" y="1054507"/>
                </a:cubicBezTo>
                <a:cubicBezTo>
                  <a:pt x="2179857" y="1087786"/>
                  <a:pt x="2196350" y="1118924"/>
                  <a:pt x="2208179" y="1151783"/>
                </a:cubicBezTo>
                <a:cubicBezTo>
                  <a:pt x="2225545" y="1200022"/>
                  <a:pt x="2237098" y="1250373"/>
                  <a:pt x="2256817" y="1297698"/>
                </a:cubicBezTo>
                <a:cubicBezTo>
                  <a:pt x="2320310" y="1450080"/>
                  <a:pt x="2289724" y="1328324"/>
                  <a:pt x="2324911" y="1433885"/>
                </a:cubicBezTo>
                <a:cubicBezTo>
                  <a:pt x="2337776" y="1472479"/>
                  <a:pt x="2351416" y="1573460"/>
                  <a:pt x="2354094" y="1589528"/>
                </a:cubicBezTo>
                <a:cubicBezTo>
                  <a:pt x="2360579" y="1628439"/>
                  <a:pt x="2362712" y="1668331"/>
                  <a:pt x="2373549" y="1706260"/>
                </a:cubicBezTo>
                <a:cubicBezTo>
                  <a:pt x="2377445" y="1719895"/>
                  <a:pt x="2394454" y="1795258"/>
                  <a:pt x="2412460" y="1813264"/>
                </a:cubicBezTo>
                <a:cubicBezTo>
                  <a:pt x="2419711" y="1820515"/>
                  <a:pt x="2431915" y="1819749"/>
                  <a:pt x="2441643" y="1822992"/>
                </a:cubicBezTo>
                <a:cubicBezTo>
                  <a:pt x="2508499" y="1819953"/>
                  <a:pt x="2643429" y="1830316"/>
                  <a:pt x="2723745" y="1793809"/>
                </a:cubicBezTo>
                <a:cubicBezTo>
                  <a:pt x="2738505" y="1787100"/>
                  <a:pt x="2750743" y="1775623"/>
                  <a:pt x="2762656" y="1764626"/>
                </a:cubicBezTo>
                <a:cubicBezTo>
                  <a:pt x="2828078" y="1704236"/>
                  <a:pt x="2836495" y="1681810"/>
                  <a:pt x="2898843" y="1638166"/>
                </a:cubicBezTo>
                <a:cubicBezTo>
                  <a:pt x="2914332" y="1627323"/>
                  <a:pt x="2929675" y="1615342"/>
                  <a:pt x="2947481" y="1608983"/>
                </a:cubicBezTo>
                <a:cubicBezTo>
                  <a:pt x="3004212" y="1588722"/>
                  <a:pt x="3073554" y="1585675"/>
                  <a:pt x="3132307" y="1579800"/>
                </a:cubicBezTo>
                <a:cubicBezTo>
                  <a:pt x="3188411" y="1593826"/>
                  <a:pt x="3260950" y="1613754"/>
                  <a:pt x="3317132" y="1618711"/>
                </a:cubicBezTo>
                <a:cubicBezTo>
                  <a:pt x="3391492" y="1625272"/>
                  <a:pt x="3466289" y="1625196"/>
                  <a:pt x="3540868" y="1628438"/>
                </a:cubicBezTo>
                <a:cubicBezTo>
                  <a:pt x="3641027" y="1653478"/>
                  <a:pt x="3495992" y="1614229"/>
                  <a:pt x="3657600" y="1677077"/>
                </a:cubicBezTo>
                <a:cubicBezTo>
                  <a:pt x="3689151" y="1689347"/>
                  <a:pt x="3723062" y="1694691"/>
                  <a:pt x="3754877" y="1706260"/>
                </a:cubicBezTo>
                <a:cubicBezTo>
                  <a:pt x="3793030" y="1720134"/>
                  <a:pt x="3867082" y="1762761"/>
                  <a:pt x="3920247" y="1764626"/>
                </a:cubicBezTo>
                <a:cubicBezTo>
                  <a:pt x="4092027" y="1770653"/>
                  <a:pt x="4263927" y="1774353"/>
                  <a:pt x="4435813" y="1774353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501B5-4DEF-4718-B322-2818FDEEC6D0}"/>
              </a:ext>
            </a:extLst>
          </p:cNvPr>
          <p:cNvSpPr txBox="1"/>
          <p:nvPr/>
        </p:nvSpPr>
        <p:spPr>
          <a:xfrm>
            <a:off x="13118595" y="2106360"/>
            <a:ext cx="3529326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/>
              <a:t>Question: do we have enough power generation to cope with the peak charging demand during evacuation?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E9733-A6D5-4CB5-3173-D6AACE2FAF7B}"/>
              </a:ext>
            </a:extLst>
          </p:cNvPr>
          <p:cNvSpPr txBox="1"/>
          <p:nvPr/>
        </p:nvSpPr>
        <p:spPr>
          <a:xfrm>
            <a:off x="2108455" y="2647937"/>
            <a:ext cx="794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Power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8D34DF-9E67-B89C-470D-97A75A399702}"/>
              </a:ext>
            </a:extLst>
          </p:cNvPr>
          <p:cNvCxnSpPr/>
          <p:nvPr/>
        </p:nvCxnSpPr>
        <p:spPr>
          <a:xfrm flipV="1">
            <a:off x="5605271" y="1460146"/>
            <a:ext cx="0" cy="3301213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D31105-E7B6-FBC4-650C-E02FD56C6EBA}"/>
              </a:ext>
            </a:extLst>
          </p:cNvPr>
          <p:cNvSpPr txBox="1"/>
          <p:nvPr/>
        </p:nvSpPr>
        <p:spPr>
          <a:xfrm>
            <a:off x="4171619" y="1394417"/>
            <a:ext cx="1700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Evacuation </a:t>
            </a:r>
          </a:p>
          <a:p>
            <a:pPr algn="ctr"/>
            <a:r>
              <a:rPr lang="en-US" dirty="0">
                <a:solidFill>
                  <a:srgbClr val="FF0000"/>
                </a:solidFill>
              </a:rPr>
              <a:t>Order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8642CD7-CE9B-5CDD-5E1C-501F73B70582}"/>
              </a:ext>
            </a:extLst>
          </p:cNvPr>
          <p:cNvSpPr/>
          <p:nvPr/>
        </p:nvSpPr>
        <p:spPr>
          <a:xfrm rot="2043583">
            <a:off x="7497315" y="3453161"/>
            <a:ext cx="875752" cy="539621"/>
          </a:xfrm>
          <a:custGeom>
            <a:avLst/>
            <a:gdLst>
              <a:gd name="connsiteX0" fmla="*/ 0 w 1353312"/>
              <a:gd name="connsiteY0" fmla="*/ 0 h 914400"/>
              <a:gd name="connsiteX1" fmla="*/ 585216 w 1353312"/>
              <a:gd name="connsiteY1" fmla="*/ 377952 h 914400"/>
              <a:gd name="connsiteX2" fmla="*/ 621792 w 1353312"/>
              <a:gd name="connsiteY2" fmla="*/ 426720 h 914400"/>
              <a:gd name="connsiteX3" fmla="*/ 646176 w 1353312"/>
              <a:gd name="connsiteY3" fmla="*/ 499872 h 914400"/>
              <a:gd name="connsiteX4" fmla="*/ 731520 w 1353312"/>
              <a:gd name="connsiteY4" fmla="*/ 573024 h 914400"/>
              <a:gd name="connsiteX5" fmla="*/ 841248 w 1353312"/>
              <a:gd name="connsiteY5" fmla="*/ 658368 h 914400"/>
              <a:gd name="connsiteX6" fmla="*/ 902208 w 1353312"/>
              <a:gd name="connsiteY6" fmla="*/ 694944 h 914400"/>
              <a:gd name="connsiteX7" fmla="*/ 975360 w 1353312"/>
              <a:gd name="connsiteY7" fmla="*/ 755904 h 914400"/>
              <a:gd name="connsiteX8" fmla="*/ 1072896 w 1353312"/>
              <a:gd name="connsiteY8" fmla="*/ 816864 h 914400"/>
              <a:gd name="connsiteX9" fmla="*/ 1121664 w 1353312"/>
              <a:gd name="connsiteY9" fmla="*/ 865632 h 914400"/>
              <a:gd name="connsiteX10" fmla="*/ 1207008 w 1353312"/>
              <a:gd name="connsiteY10" fmla="*/ 877824 h 914400"/>
              <a:gd name="connsiteX11" fmla="*/ 1353312 w 1353312"/>
              <a:gd name="connsiteY11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53312" h="914400">
                <a:moveTo>
                  <a:pt x="0" y="0"/>
                </a:moveTo>
                <a:cubicBezTo>
                  <a:pt x="848510" y="516484"/>
                  <a:pt x="421011" y="148065"/>
                  <a:pt x="585216" y="377952"/>
                </a:cubicBezTo>
                <a:cubicBezTo>
                  <a:pt x="597027" y="394487"/>
                  <a:pt x="609600" y="410464"/>
                  <a:pt x="621792" y="426720"/>
                </a:cubicBezTo>
                <a:cubicBezTo>
                  <a:pt x="629920" y="451104"/>
                  <a:pt x="632952" y="477832"/>
                  <a:pt x="646176" y="499872"/>
                </a:cubicBezTo>
                <a:cubicBezTo>
                  <a:pt x="670247" y="539991"/>
                  <a:pt x="698161" y="548005"/>
                  <a:pt x="731520" y="573024"/>
                </a:cubicBezTo>
                <a:cubicBezTo>
                  <a:pt x="768589" y="600826"/>
                  <a:pt x="801515" y="634528"/>
                  <a:pt x="841248" y="658368"/>
                </a:cubicBezTo>
                <a:cubicBezTo>
                  <a:pt x="861568" y="670560"/>
                  <a:pt x="883043" y="681006"/>
                  <a:pt x="902208" y="694944"/>
                </a:cubicBezTo>
                <a:cubicBezTo>
                  <a:pt x="927878" y="713613"/>
                  <a:pt x="949531" y="737455"/>
                  <a:pt x="975360" y="755904"/>
                </a:cubicBezTo>
                <a:cubicBezTo>
                  <a:pt x="1006558" y="778188"/>
                  <a:pt x="1042224" y="793860"/>
                  <a:pt x="1072896" y="816864"/>
                </a:cubicBezTo>
                <a:cubicBezTo>
                  <a:pt x="1091288" y="830658"/>
                  <a:pt x="1100735" y="856119"/>
                  <a:pt x="1121664" y="865632"/>
                </a:cubicBezTo>
                <a:cubicBezTo>
                  <a:pt x="1147825" y="877523"/>
                  <a:pt x="1178523" y="874026"/>
                  <a:pt x="1207008" y="877824"/>
                </a:cubicBezTo>
                <a:cubicBezTo>
                  <a:pt x="1325205" y="893584"/>
                  <a:pt x="1273781" y="874635"/>
                  <a:pt x="1353312" y="914400"/>
                </a:cubicBezTo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8E86DF-A6CF-7F3A-D85E-BB209ACCE060}"/>
              </a:ext>
            </a:extLst>
          </p:cNvPr>
          <p:cNvSpPr txBox="1"/>
          <p:nvPr/>
        </p:nvSpPr>
        <p:spPr>
          <a:xfrm>
            <a:off x="12698963" y="3671665"/>
            <a:ext cx="4132686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i="1" dirty="0"/>
              <a:t>Objective</a:t>
            </a:r>
            <a:r>
              <a:rPr lang="en-US" i="1" dirty="0"/>
              <a:t>: Develop decision-aid tools to guide investments in power infrastructure and help grid cope with (power) overload during evacuations 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EDBAFD-3F27-7AAB-70D4-35A6BB1EFFA9}"/>
              </a:ext>
            </a:extLst>
          </p:cNvPr>
          <p:cNvSpPr txBox="1"/>
          <p:nvPr/>
        </p:nvSpPr>
        <p:spPr>
          <a:xfrm>
            <a:off x="6722153" y="1508423"/>
            <a:ext cx="2148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Power load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during “evacuation”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82ED6B-CA48-22D9-490D-6C44812814A4}"/>
              </a:ext>
            </a:extLst>
          </p:cNvPr>
          <p:cNvSpPr txBox="1"/>
          <p:nvPr/>
        </p:nvSpPr>
        <p:spPr>
          <a:xfrm>
            <a:off x="1384791" y="5463583"/>
            <a:ext cx="8974368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2. What if we need to evacuate and the grid is</a:t>
            </a:r>
            <a:r>
              <a:rPr lang="en-US" sz="2400" b="1" i="1" dirty="0">
                <a:solidFill>
                  <a:srgbClr val="FF0000"/>
                </a:solidFill>
              </a:rPr>
              <a:t> overloaded</a:t>
            </a:r>
            <a:r>
              <a:rPr lang="en-US" sz="2400" b="1" i="1" dirty="0"/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6EB6A9-93EA-E4CE-EAC9-A3B5AE613DCB}"/>
              </a:ext>
            </a:extLst>
          </p:cNvPr>
          <p:cNvSpPr txBox="1"/>
          <p:nvPr/>
        </p:nvSpPr>
        <p:spPr>
          <a:xfrm>
            <a:off x="13793071" y="711531"/>
            <a:ext cx="3839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especially critical if time to evacuate is short</a:t>
            </a:r>
          </a:p>
        </p:txBody>
      </p:sp>
    </p:spTree>
    <p:extLst>
      <p:ext uri="{BB962C8B-B14F-4D97-AF65-F5344CB8AC3E}">
        <p14:creationId xmlns:p14="http://schemas.microsoft.com/office/powerpoint/2010/main" val="184462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6" grpId="0" animBg="1"/>
      <p:bldP spid="11" grpId="0"/>
      <p:bldP spid="15" grpId="0" animBg="1"/>
      <p:bldP spid="22" grpId="0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D1ECA75-EDA4-A510-D20B-1D6C19D12989}"/>
              </a:ext>
            </a:extLst>
          </p:cNvPr>
          <p:cNvSpPr/>
          <p:nvPr/>
        </p:nvSpPr>
        <p:spPr>
          <a:xfrm>
            <a:off x="508590" y="1607837"/>
            <a:ext cx="5486400" cy="14874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Evacuation of 5k cars in Mariposa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Energy consumption 0.32kWh/mile of energy consumption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Distance: 70 miles to reach “safety”/shelter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6DBFF2-5785-7723-FCD5-4212001BC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E701AE-7458-9B4A-35CE-4212B66E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Grid Overload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7C11C-250D-BB88-2DE3-D759972546DE}"/>
              </a:ext>
            </a:extLst>
          </p:cNvPr>
          <p:cNvSpPr/>
          <p:nvPr/>
        </p:nvSpPr>
        <p:spPr>
          <a:xfrm>
            <a:off x="5131490" y="4434946"/>
            <a:ext cx="2088325" cy="350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5DA334-7302-9E42-AB41-2992476D5E15}"/>
              </a:ext>
            </a:extLst>
          </p:cNvPr>
          <p:cNvSpPr txBox="1"/>
          <p:nvPr/>
        </p:nvSpPr>
        <p:spPr>
          <a:xfrm>
            <a:off x="3138277" y="4442737"/>
            <a:ext cx="196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1day evac. window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AB4023-54C8-DC29-A9C2-F93D4125AE1C}"/>
              </a:ext>
            </a:extLst>
          </p:cNvPr>
          <p:cNvSpPr/>
          <p:nvPr/>
        </p:nvSpPr>
        <p:spPr>
          <a:xfrm>
            <a:off x="5142123" y="4053292"/>
            <a:ext cx="393405" cy="350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CF463-4C62-24F0-1B03-9116245F5BA2}"/>
              </a:ext>
            </a:extLst>
          </p:cNvPr>
          <p:cNvSpPr txBox="1"/>
          <p:nvPr/>
        </p:nvSpPr>
        <p:spPr>
          <a:xfrm>
            <a:off x="3138277" y="4044063"/>
            <a:ext cx="196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7day evac. window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315F8B-6E01-BFDC-2549-BD6F3AFBFA74}"/>
              </a:ext>
            </a:extLst>
          </p:cNvPr>
          <p:cNvSpPr/>
          <p:nvPr/>
        </p:nvSpPr>
        <p:spPr>
          <a:xfrm>
            <a:off x="5131490" y="4804327"/>
            <a:ext cx="3950245" cy="35087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89CC42-3BF5-441D-757E-DA37C27B6723}"/>
              </a:ext>
            </a:extLst>
          </p:cNvPr>
          <p:cNvSpPr txBox="1"/>
          <p:nvPr/>
        </p:nvSpPr>
        <p:spPr>
          <a:xfrm>
            <a:off x="2657696" y="4791514"/>
            <a:ext cx="2307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Avg. power generation</a:t>
            </a:r>
          </a:p>
          <a:p>
            <a:r>
              <a:rPr lang="en-US" i="1" dirty="0"/>
              <a:t>In Mariposa*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CD2C3-95CC-FD6D-0720-4BA0496BAB1B}"/>
              </a:ext>
            </a:extLst>
          </p:cNvPr>
          <p:cNvSpPr txBox="1"/>
          <p:nvPr/>
        </p:nvSpPr>
        <p:spPr>
          <a:xfrm>
            <a:off x="9081735" y="4782509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13MW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96B01E-CF78-D928-3D19-DA4453CA47B3}"/>
              </a:ext>
            </a:extLst>
          </p:cNvPr>
          <p:cNvSpPr txBox="1"/>
          <p:nvPr/>
        </p:nvSpPr>
        <p:spPr>
          <a:xfrm>
            <a:off x="5502505" y="4010123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0.6 MW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C2760-F0CF-510D-76A0-C9CB9FFD9804}"/>
              </a:ext>
            </a:extLst>
          </p:cNvPr>
          <p:cNvSpPr txBox="1"/>
          <p:nvPr/>
        </p:nvSpPr>
        <p:spPr>
          <a:xfrm>
            <a:off x="6714460" y="6283428"/>
            <a:ext cx="6177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*Mariposa avg power in 2022:  114GWh/365=0.31GWh/day=</a:t>
            </a:r>
            <a:r>
              <a:rPr lang="en-US" sz="1200" dirty="0">
                <a:solidFill>
                  <a:srgbClr val="FF0000"/>
                </a:solidFill>
              </a:rPr>
              <a:t>13MW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72DE87-0EE0-CF2A-7C38-618B5C0261FF}"/>
              </a:ext>
            </a:extLst>
          </p:cNvPr>
          <p:cNvSpPr txBox="1"/>
          <p:nvPr/>
        </p:nvSpPr>
        <p:spPr>
          <a:xfrm>
            <a:off x="6659359" y="6507949"/>
            <a:ext cx="6177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https://ecdms.energy.ca.gov/elecbycounty.aspx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642FB1-AD97-A3E5-AE15-493244121777}"/>
              </a:ext>
            </a:extLst>
          </p:cNvPr>
          <p:cNvSpPr txBox="1"/>
          <p:nvPr/>
        </p:nvSpPr>
        <p:spPr>
          <a:xfrm>
            <a:off x="12836875" y="4231143"/>
            <a:ext cx="6974241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Short evacuation window may </a:t>
            </a:r>
            <a:r>
              <a:rPr lang="en-US" sz="2400" b="1" i="1" dirty="0">
                <a:solidFill>
                  <a:srgbClr val="FF0000"/>
                </a:solidFill>
              </a:rPr>
              <a:t>overload the grid!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E24A70-5018-FCD2-E87C-A08793CA9204}"/>
              </a:ext>
            </a:extLst>
          </p:cNvPr>
          <p:cNvSpPr txBox="1"/>
          <p:nvPr/>
        </p:nvSpPr>
        <p:spPr>
          <a:xfrm>
            <a:off x="7689202" y="4442737"/>
            <a:ext cx="421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(35% of average gen. in Mariposa!)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94849B-69DF-395F-49C8-CBCD702CA6DF}"/>
              </a:ext>
            </a:extLst>
          </p:cNvPr>
          <p:cNvSpPr txBox="1"/>
          <p:nvPr/>
        </p:nvSpPr>
        <p:spPr>
          <a:xfrm>
            <a:off x="1577988" y="1350924"/>
            <a:ext cx="3077876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Assumptions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9C4A19-0442-E245-3685-11CAA057C89B}"/>
              </a:ext>
            </a:extLst>
          </p:cNvPr>
          <p:cNvSpPr/>
          <p:nvPr/>
        </p:nvSpPr>
        <p:spPr>
          <a:xfrm>
            <a:off x="6176292" y="1596662"/>
            <a:ext cx="5486400" cy="14874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22kWh/vehicle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Evac. Energy:  32kWh*5k = </a:t>
            </a:r>
            <a:r>
              <a:rPr lang="en-US" dirty="0">
                <a:solidFill>
                  <a:srgbClr val="FF0000"/>
                </a:solidFill>
              </a:rPr>
              <a:t>110MWh 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B34DAF-E974-9A73-9FA7-260DE9EEAB3B}"/>
              </a:ext>
            </a:extLst>
          </p:cNvPr>
          <p:cNvSpPr txBox="1"/>
          <p:nvPr/>
        </p:nvSpPr>
        <p:spPr>
          <a:xfrm>
            <a:off x="7594572" y="1377835"/>
            <a:ext cx="3077876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Energy Needs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E49C47-DA0E-550D-B943-06A7ADAC97BA}"/>
              </a:ext>
            </a:extLst>
          </p:cNvPr>
          <p:cNvSpPr txBox="1"/>
          <p:nvPr/>
        </p:nvSpPr>
        <p:spPr>
          <a:xfrm>
            <a:off x="1077806" y="4049834"/>
            <a:ext cx="1538938" cy="1200329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dirty="0"/>
              <a:t>Avg. Power</a:t>
            </a:r>
          </a:p>
          <a:p>
            <a:pPr algn="ctr"/>
            <a:r>
              <a:rPr lang="en-US" dirty="0"/>
              <a:t>Analysis</a:t>
            </a:r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75F4C4-A962-BF14-A0A4-FCC18725EFF5}"/>
              </a:ext>
            </a:extLst>
          </p:cNvPr>
          <p:cNvSpPr txBox="1"/>
          <p:nvPr/>
        </p:nvSpPr>
        <p:spPr>
          <a:xfrm>
            <a:off x="7268882" y="446277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4.6MW</a:t>
            </a:r>
          </a:p>
        </p:txBody>
      </p:sp>
    </p:spTree>
    <p:extLst>
      <p:ext uri="{BB962C8B-B14F-4D97-AF65-F5344CB8AC3E}">
        <p14:creationId xmlns:p14="http://schemas.microsoft.com/office/powerpoint/2010/main" val="330622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 animBg="1"/>
      <p:bldP spid="10" grpId="0"/>
      <p:bldP spid="11" grpId="0" animBg="1"/>
      <p:bldP spid="12" grpId="0"/>
      <p:bldP spid="13" grpId="0"/>
      <p:bldP spid="14" grpId="0"/>
      <p:bldP spid="19" grpId="0" animBg="1"/>
      <p:bldP spid="20" grpId="0"/>
      <p:bldP spid="30" grpId="0" animBg="1"/>
      <p:bldP spid="29" grpId="0" animBg="1"/>
      <p:bldP spid="32" grpId="0" animBg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BDABB-FBFC-C4F3-0893-8AA7BB117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6AEBCD9-C27D-4CBD-88F4-08B4D3A2CDB0}" type="slidenum">
              <a:rPr lang="en-US" smtClean="0"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6DACA5-E95E-A7A5-64D3-24D8ADCCA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Grid Overload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013F3C-065E-0AF0-37DB-FB3E65B7DB23}"/>
              </a:ext>
            </a:extLst>
          </p:cNvPr>
          <p:cNvSpPr/>
          <p:nvPr/>
        </p:nvSpPr>
        <p:spPr>
          <a:xfrm>
            <a:off x="5165710" y="1157050"/>
            <a:ext cx="45719" cy="350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FBBB9-C399-E898-27AF-C608B9300572}"/>
              </a:ext>
            </a:extLst>
          </p:cNvPr>
          <p:cNvSpPr txBox="1"/>
          <p:nvPr/>
        </p:nvSpPr>
        <p:spPr>
          <a:xfrm>
            <a:off x="3172496" y="1164841"/>
            <a:ext cx="196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1day evac. window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4EBEA9-A805-04F4-027A-381EC226525D}"/>
              </a:ext>
            </a:extLst>
          </p:cNvPr>
          <p:cNvSpPr/>
          <p:nvPr/>
        </p:nvSpPr>
        <p:spPr>
          <a:xfrm>
            <a:off x="5162339" y="1569039"/>
            <a:ext cx="157593" cy="35087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A63089-FB71-CD62-9E0F-F86E25BE8CFB}"/>
              </a:ext>
            </a:extLst>
          </p:cNvPr>
          <p:cNvSpPr txBox="1"/>
          <p:nvPr/>
        </p:nvSpPr>
        <p:spPr>
          <a:xfrm>
            <a:off x="2718269" y="1558662"/>
            <a:ext cx="2422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Avg. power generation*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8CE77-DA20-0D01-5041-1072C4F152E1}"/>
              </a:ext>
            </a:extLst>
          </p:cNvPr>
          <p:cNvSpPr txBox="1"/>
          <p:nvPr/>
        </p:nvSpPr>
        <p:spPr>
          <a:xfrm>
            <a:off x="5470837" y="157846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13MW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7E61EE-BC5D-895D-9784-940D6AFC514A}"/>
              </a:ext>
            </a:extLst>
          </p:cNvPr>
          <p:cNvSpPr txBox="1"/>
          <p:nvPr/>
        </p:nvSpPr>
        <p:spPr>
          <a:xfrm>
            <a:off x="5235963" y="1154095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4.6MW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C894C-4D63-487B-5632-8C0BE17E18E5}"/>
              </a:ext>
            </a:extLst>
          </p:cNvPr>
          <p:cNvSpPr txBox="1"/>
          <p:nvPr/>
        </p:nvSpPr>
        <p:spPr>
          <a:xfrm>
            <a:off x="1007263" y="1218704"/>
            <a:ext cx="1538938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Mariposa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116576-158A-8106-9B58-5663B69B74F3}"/>
              </a:ext>
            </a:extLst>
          </p:cNvPr>
          <p:cNvSpPr txBox="1"/>
          <p:nvPr/>
        </p:nvSpPr>
        <p:spPr>
          <a:xfrm>
            <a:off x="1059330" y="2481194"/>
            <a:ext cx="1538938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Merced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842DC-4076-03A7-5A55-41E58606DA2A}"/>
              </a:ext>
            </a:extLst>
          </p:cNvPr>
          <p:cNvSpPr txBox="1"/>
          <p:nvPr/>
        </p:nvSpPr>
        <p:spPr>
          <a:xfrm>
            <a:off x="1028426" y="1511729"/>
            <a:ext cx="1538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5k cars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D81595-8558-023A-81C9-ADFE04BFD44F}"/>
              </a:ext>
            </a:extLst>
          </p:cNvPr>
          <p:cNvSpPr txBox="1"/>
          <p:nvPr/>
        </p:nvSpPr>
        <p:spPr>
          <a:xfrm>
            <a:off x="692422" y="2829836"/>
            <a:ext cx="237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50k cars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8CB224-9FF3-8BA0-F2C6-F4A91FAAA11F}"/>
              </a:ext>
            </a:extLst>
          </p:cNvPr>
          <p:cNvSpPr/>
          <p:nvPr/>
        </p:nvSpPr>
        <p:spPr>
          <a:xfrm>
            <a:off x="5168978" y="2395926"/>
            <a:ext cx="878767" cy="350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B56B66-D196-8911-78CB-6185AE6F2623}"/>
              </a:ext>
            </a:extLst>
          </p:cNvPr>
          <p:cNvSpPr txBox="1"/>
          <p:nvPr/>
        </p:nvSpPr>
        <p:spPr>
          <a:xfrm>
            <a:off x="3197030" y="2403717"/>
            <a:ext cx="196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1day evac. window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8E4235-9F79-F774-0B9B-92025D1828D5}"/>
              </a:ext>
            </a:extLst>
          </p:cNvPr>
          <p:cNvSpPr txBox="1"/>
          <p:nvPr/>
        </p:nvSpPr>
        <p:spPr>
          <a:xfrm>
            <a:off x="6114931" y="2397978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46MW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F5A192-F9F9-2FC8-E5C2-1E16EC61E6C2}"/>
              </a:ext>
            </a:extLst>
          </p:cNvPr>
          <p:cNvSpPr/>
          <p:nvPr/>
        </p:nvSpPr>
        <p:spPr>
          <a:xfrm>
            <a:off x="5162339" y="2778227"/>
            <a:ext cx="3939469" cy="35087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AA97E7-41D5-1935-F7A0-609CC7AAEF4E}"/>
              </a:ext>
            </a:extLst>
          </p:cNvPr>
          <p:cNvSpPr txBox="1"/>
          <p:nvPr/>
        </p:nvSpPr>
        <p:spPr>
          <a:xfrm>
            <a:off x="2738906" y="2759769"/>
            <a:ext cx="2422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Avg. power generation*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08DC4F-20DF-9D51-5BF9-C4019BD72892}"/>
              </a:ext>
            </a:extLst>
          </p:cNvPr>
          <p:cNvSpPr txBox="1"/>
          <p:nvPr/>
        </p:nvSpPr>
        <p:spPr>
          <a:xfrm>
            <a:off x="9084584" y="2762505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363 MW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51270C-FA99-62D2-59CE-E1435F1CD608}"/>
              </a:ext>
            </a:extLst>
          </p:cNvPr>
          <p:cNvSpPr txBox="1"/>
          <p:nvPr/>
        </p:nvSpPr>
        <p:spPr>
          <a:xfrm>
            <a:off x="644447" y="4102262"/>
            <a:ext cx="2371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250k cars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6A515C-DD22-0E0E-C3A3-6C85C28491B2}"/>
              </a:ext>
            </a:extLst>
          </p:cNvPr>
          <p:cNvSpPr/>
          <p:nvPr/>
        </p:nvSpPr>
        <p:spPr>
          <a:xfrm>
            <a:off x="5168979" y="4080806"/>
            <a:ext cx="1489002" cy="35087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F36506-6D94-8F96-90D0-55FD52D56DC2}"/>
              </a:ext>
            </a:extLst>
          </p:cNvPr>
          <p:cNvSpPr txBox="1"/>
          <p:nvPr/>
        </p:nvSpPr>
        <p:spPr>
          <a:xfrm>
            <a:off x="2783379" y="4092843"/>
            <a:ext cx="2422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Avg. power generation*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9D63F5-0D9A-D08F-D1AE-8693F7158CB0}"/>
              </a:ext>
            </a:extLst>
          </p:cNvPr>
          <p:cNvSpPr/>
          <p:nvPr/>
        </p:nvSpPr>
        <p:spPr>
          <a:xfrm>
            <a:off x="5168979" y="3698715"/>
            <a:ext cx="2770352" cy="35087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C13CD8-E944-DE36-06DF-E9464B96D0D3}"/>
              </a:ext>
            </a:extLst>
          </p:cNvPr>
          <p:cNvSpPr txBox="1"/>
          <p:nvPr/>
        </p:nvSpPr>
        <p:spPr>
          <a:xfrm>
            <a:off x="3233071" y="3660031"/>
            <a:ext cx="196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1day evac. window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42E444-1666-482E-0910-5921BF6160E4}"/>
              </a:ext>
            </a:extLst>
          </p:cNvPr>
          <p:cNvSpPr txBox="1"/>
          <p:nvPr/>
        </p:nvSpPr>
        <p:spPr>
          <a:xfrm>
            <a:off x="6653809" y="409284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134MW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DC762A-43F5-72DE-CEE0-7420A08C9033}"/>
              </a:ext>
            </a:extLst>
          </p:cNvPr>
          <p:cNvSpPr txBox="1"/>
          <p:nvPr/>
        </p:nvSpPr>
        <p:spPr>
          <a:xfrm>
            <a:off x="8058625" y="3698715"/>
            <a:ext cx="99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230 MW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BEBD0B-0DAC-82CC-ED55-EC366D3CEFE1}"/>
              </a:ext>
            </a:extLst>
          </p:cNvPr>
          <p:cNvSpPr txBox="1"/>
          <p:nvPr/>
        </p:nvSpPr>
        <p:spPr>
          <a:xfrm>
            <a:off x="6657981" y="6357329"/>
            <a:ext cx="617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County energy generation: </a:t>
            </a:r>
          </a:p>
          <a:p>
            <a:r>
              <a:rPr lang="en-US" sz="1200" dirty="0"/>
              <a:t>https://ecdms.energy.ca.gov/elecbycounty.aspx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43DEB1-4C2C-EE09-DCF1-1D7F8F97007A}"/>
              </a:ext>
            </a:extLst>
          </p:cNvPr>
          <p:cNvSpPr txBox="1"/>
          <p:nvPr/>
        </p:nvSpPr>
        <p:spPr>
          <a:xfrm>
            <a:off x="1658532" y="5358198"/>
            <a:ext cx="8974368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dk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 What if we need to evacuate and the grid is</a:t>
            </a:r>
            <a:r>
              <a:rPr lang="en-US" sz="2400" b="1" i="1" dirty="0">
                <a:solidFill>
                  <a:srgbClr val="FF0000"/>
                </a:solidFill>
              </a:rPr>
              <a:t> overloaded</a:t>
            </a:r>
            <a:r>
              <a:rPr lang="en-US" sz="2400" b="1" i="1" dirty="0"/>
              <a:t>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26AE6B-3A9F-60D3-E77A-A650A8F53BC7}"/>
              </a:ext>
            </a:extLst>
          </p:cNvPr>
          <p:cNvSpPr txBox="1"/>
          <p:nvPr/>
        </p:nvSpPr>
        <p:spPr>
          <a:xfrm>
            <a:off x="1059330" y="3743016"/>
            <a:ext cx="1538938" cy="369332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SantaCruz</a:t>
            </a:r>
            <a:endParaRPr lang="en-US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8A9E4C5-69E2-E075-FF41-987571AAC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287" y="3725113"/>
            <a:ext cx="705381" cy="64895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82B51C1-91C3-F585-D656-36F5B4820233}"/>
              </a:ext>
            </a:extLst>
          </p:cNvPr>
          <p:cNvSpPr txBox="1"/>
          <p:nvPr/>
        </p:nvSpPr>
        <p:spPr>
          <a:xfrm>
            <a:off x="7345218" y="4365873"/>
            <a:ext cx="476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Charging power &gt; Avg daily power generation!</a:t>
            </a:r>
          </a:p>
        </p:txBody>
      </p:sp>
    </p:spTree>
    <p:extLst>
      <p:ext uri="{BB962C8B-B14F-4D97-AF65-F5344CB8AC3E}">
        <p14:creationId xmlns:p14="http://schemas.microsoft.com/office/powerpoint/2010/main" val="422066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6" grpId="0"/>
      <p:bldP spid="27" grpId="0" animBg="1"/>
      <p:bldP spid="28" grpId="0"/>
      <p:bldP spid="29" grpId="0" animBg="1"/>
      <p:bldP spid="30" grpId="0"/>
      <p:bldP spid="31" grpId="0"/>
      <p:bldP spid="32" grpId="0"/>
      <p:bldP spid="34" grpId="0" animBg="1"/>
      <p:bldP spid="36" grpId="0" animBg="1"/>
      <p:bldP spid="4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0a6f3-6861-49ba-94f2-f3f78dd4ae63">
      <Terms xmlns="http://schemas.microsoft.com/office/infopath/2007/PartnerControls"/>
    </lcf76f155ced4ddcb4097134ff3c332f>
    <TaxCatchAll xmlns="769c9d07-5fea-4c5b-a63a-e12281ded9f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2DA7558C4D0409FB7D79D43C63046" ma:contentTypeVersion="12" ma:contentTypeDescription="Create a new document." ma:contentTypeScope="" ma:versionID="bc548b5e81a97cb0268c7cd411c5fa33">
  <xsd:schema xmlns:xsd="http://www.w3.org/2001/XMLSchema" xmlns:xs="http://www.w3.org/2001/XMLSchema" xmlns:p="http://schemas.microsoft.com/office/2006/metadata/properties" xmlns:ns2="dcd0a6f3-6861-49ba-94f2-f3f78dd4ae63" xmlns:ns3="769c9d07-5fea-4c5b-a63a-e12281ded9ff" targetNamespace="http://schemas.microsoft.com/office/2006/metadata/properties" ma:root="true" ma:fieldsID="07b9255c7b74f342168d7fc2dd50908f" ns2:_="" ns3:_="">
    <xsd:import namespace="dcd0a6f3-6861-49ba-94f2-f3f78dd4ae63"/>
    <xsd:import namespace="769c9d07-5fea-4c5b-a63a-e12281ded9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0a6f3-6861-49ba-94f2-f3f78dd4ae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3b8da89-66ce-4411-8b7f-88984b48a1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9c9d07-5fea-4c5b-a63a-e12281ded9f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f0347d7-a57c-496f-a719-6a72763059d5}" ma:internalName="TaxCatchAll" ma:showField="CatchAllData" ma:web="769c9d07-5fea-4c5b-a63a-e12281ded9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827447-3D29-4F40-AC5C-37E8C0983C8F}">
  <ds:schemaRefs>
    <ds:schemaRef ds:uri="http://www.w3.org/XML/1998/namespace"/>
    <ds:schemaRef ds:uri="http://purl.org/dc/elements/1.1/"/>
    <ds:schemaRef ds:uri="http://purl.org/dc/dcmitype/"/>
    <ds:schemaRef ds:uri="dcd0a6f3-6861-49ba-94f2-f3f78dd4ae63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69c9d07-5fea-4c5b-a63a-e12281ded9ff"/>
  </ds:schemaRefs>
</ds:datastoreItem>
</file>

<file path=customXml/itemProps2.xml><?xml version="1.0" encoding="utf-8"?>
<ds:datastoreItem xmlns:ds="http://schemas.openxmlformats.org/officeDocument/2006/customXml" ds:itemID="{C61C6300-AE9A-417C-B4C2-6445F73C93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A36200-1E0B-4BAE-A6E2-F02B32F2B4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0a6f3-6861-49ba-94f2-f3f78dd4ae63"/>
    <ds:schemaRef ds:uri="769c9d07-5fea-4c5b-a63a-e12281ded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2266</TotalTime>
  <Words>1682</Words>
  <Application>Microsoft Office PowerPoint</Application>
  <PresentationFormat>Widescreen</PresentationFormat>
  <Paragraphs>353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Agenda</vt:lpstr>
      <vt:lpstr>Round of Introductions</vt:lpstr>
      <vt:lpstr>Agenda</vt:lpstr>
      <vt:lpstr>Natural Hazards Trigger Evacuations in California</vt:lpstr>
      <vt:lpstr>Mass adoption of EVs in California</vt:lpstr>
      <vt:lpstr>Challenge 1: Lack of Power</vt:lpstr>
      <vt:lpstr>Challenge: Grid Overload </vt:lpstr>
      <vt:lpstr>Challenge: Grid Overload </vt:lpstr>
      <vt:lpstr>Challenge: Charging Time</vt:lpstr>
      <vt:lpstr>Challenge: Public Policy</vt:lpstr>
      <vt:lpstr>Project Outcomes/Objectives</vt:lpstr>
      <vt:lpstr>Team &amp; Community Partners</vt:lpstr>
      <vt:lpstr>Project Timeline</vt:lpstr>
      <vt:lpstr>Objectives for the Day</vt:lpstr>
      <vt:lpstr>Agenda</vt:lpstr>
      <vt:lpstr>PowerPoint Presentation</vt:lpstr>
      <vt:lpstr>Readness Score: Overview</vt:lpstr>
      <vt:lpstr>Challenge 2: Grid Overloading</vt:lpstr>
      <vt:lpstr>Challenge: Grid Overload </vt:lpstr>
      <vt:lpstr>Challenge: Grid Overload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 Lippincott</dc:creator>
  <cp:lastModifiedBy>Ricardo de Castro</cp:lastModifiedBy>
  <cp:revision>39</cp:revision>
  <cp:lastPrinted>2024-04-26T14:29:18Z</cp:lastPrinted>
  <dcterms:created xsi:type="dcterms:W3CDTF">2022-06-28T19:00:38Z</dcterms:created>
  <dcterms:modified xsi:type="dcterms:W3CDTF">2024-06-18T02:06:50Z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0x010100B0A2DA7558C4D0409FB7D79D43C63046</vt:lpwstr>
  </property>
  <property fmtid="{D5CDD505-2E9C-101B-9397-08002B2CF9AE}" pid="3" name="MediaServiceImageTags">
    <vt:lpwstr/>
  </property>
</Properties>
</file>